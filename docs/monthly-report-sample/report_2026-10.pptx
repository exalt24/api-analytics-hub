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dPt>
            <c:idx val="5"/>
            <c:marker>
              <c:symbol val="circle"/>
              <c:size val="9"/>
              <c:spPr>
                <a:solidFill>
                  <a:srgbClr val="1B7F8C"/>
                </a:solidFill>
                <a:ln>
                  <a:solidFill>
                    <a:srgbClr val="1B7F8C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1093.34</c:v>
                </c:pt>
                <c:pt idx="1">
                  <c:v>1874.35</c:v>
                </c:pt>
                <c:pt idx="2">
                  <c:v>1507.8</c:v>
                </c:pt>
                <c:pt idx="3">
                  <c:v>1036.88</c:v>
                </c:pt>
                <c:pt idx="4">
                  <c:v>840.98</c:v>
                </c:pt>
                <c:pt idx="5">
                  <c:v>0.0</c:v>
                </c:pt>
                <c:pt idx="6">
                  <c:v>1349.98</c:v>
                </c:pt>
                <c:pt idx="7">
                  <c:v>1122.7</c:v>
                </c:pt>
                <c:pt idx="8">
                  <c:v>2016.71</c:v>
                </c:pt>
                <c:pt idx="9">
                  <c:v>1280.17</c:v>
                </c:pt>
                <c:pt idx="10">
                  <c:v>1461.66</c:v>
                </c:pt>
                <c:pt idx="11">
                  <c:v>1448.81</c:v>
                </c:pt>
                <c:pt idx="12">
                  <c:v>1303.19</c:v>
                </c:pt>
                <c:pt idx="15">
                  <c:v>1735.85</c:v>
                </c:pt>
                <c:pt idx="16">
                  <c:v>1453.31</c:v>
                </c:pt>
                <c:pt idx="17">
                  <c:v>1264.43</c:v>
                </c:pt>
                <c:pt idx="18">
                  <c:v>1117.28</c:v>
                </c:pt>
                <c:pt idx="19">
                  <c:v>960.38</c:v>
                </c:pt>
                <c:pt idx="20">
                  <c:v>1645.78</c:v>
                </c:pt>
                <c:pt idx="21">
                  <c:v>1705.15</c:v>
                </c:pt>
                <c:pt idx="22">
                  <c:v>1879.87</c:v>
                </c:pt>
                <c:pt idx="23">
                  <c:v>1710.42</c:v>
                </c:pt>
                <c:pt idx="24">
                  <c:v>1753.51</c:v>
                </c:pt>
                <c:pt idx="25">
                  <c:v>1363.46</c:v>
                </c:pt>
                <c:pt idx="26">
                  <c:v>1454.7</c:v>
                </c:pt>
                <c:pt idx="27">
                  <c:v>1140.96</c:v>
                </c:pt>
                <c:pt idx="28">
                  <c:v>1045.38</c:v>
                </c:pt>
                <c:pt idx="29">
                  <c:v>1494.35</c:v>
                </c:pt>
                <c:pt idx="30">
                  <c:v>2187.62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1250.0</c:v>
                </c:pt>
                <c:pt idx="1">
                  <c:v>1390.24</c:v>
                </c:pt>
                <c:pt idx="2">
                  <c:v>1465.96</c:v>
                </c:pt>
                <c:pt idx="3">
                  <c:v>1881.42</c:v>
                </c:pt>
                <c:pt idx="4">
                  <c:v>1838.65</c:v>
                </c:pt>
                <c:pt idx="5">
                  <c:v>1981.97</c:v>
                </c:pt>
                <c:pt idx="6">
                  <c:v>0.0</c:v>
                </c:pt>
                <c:pt idx="7">
                  <c:v>1212.26</c:v>
                </c:pt>
                <c:pt idx="8">
                  <c:v>1047.71</c:v>
                </c:pt>
                <c:pt idx="9">
                  <c:v>1107.8</c:v>
                </c:pt>
                <c:pt idx="10">
                  <c:v>1454.55</c:v>
                </c:pt>
                <c:pt idx="11">
                  <c:v>1891.53</c:v>
                </c:pt>
                <c:pt idx="12">
                  <c:v>2008.74</c:v>
                </c:pt>
                <c:pt idx="13">
                  <c:v>1415.63</c:v>
                </c:pt>
                <c:pt idx="14">
                  <c:v>1253.27</c:v>
                </c:pt>
                <c:pt idx="15">
                  <c:v>1094.08</c:v>
                </c:pt>
                <c:pt idx="16">
                  <c:v>1592.91</c:v>
                </c:pt>
                <c:pt idx="17">
                  <c:v>1839.95</c:v>
                </c:pt>
                <c:pt idx="18">
                  <c:v>1648.79</c:v>
                </c:pt>
                <c:pt idx="19">
                  <c:v>1099.31</c:v>
                </c:pt>
                <c:pt idx="20">
                  <c:v>1295.03</c:v>
                </c:pt>
                <c:pt idx="21">
                  <c:v>0.0</c:v>
                </c:pt>
                <c:pt idx="22">
                  <c:v>1097.83</c:v>
                </c:pt>
                <c:pt idx="23">
                  <c:v>1651.48</c:v>
                </c:pt>
                <c:pt idx="24">
                  <c:v>2077.77</c:v>
                </c:pt>
                <c:pt idx="25">
                  <c:v>1355.29</c:v>
                </c:pt>
                <c:pt idx="26">
                  <c:v>1790.66</c:v>
                </c:pt>
                <c:pt idx="27">
                  <c:v>1082.55</c:v>
                </c:pt>
                <c:pt idx="28">
                  <c:v>1139.63</c:v>
                </c:pt>
                <c:pt idx="29">
                  <c:v>1001.1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13">
                  <c:v>0.0</c:v>
                </c:pt>
                <c:pt idx="1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Net sales ($)</a:t>
                </a:r>
              </a:p>
            </c:rich>
          </c:tx>
          <c:layout/>
          <c:overlay val="0"/>
        </c:title>
        <c:numFmt formatCode="&quot;$&quot;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dPt>
            <c:idx val="5"/>
            <c:marker>
              <c:symbol val="circle"/>
              <c:size val="9"/>
              <c:spPr>
                <a:solidFill>
                  <a:srgbClr val="1B7F8C"/>
                </a:solidFill>
                <a:ln>
                  <a:solidFill>
                    <a:srgbClr val="1B7F8C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19.0</c:v>
                </c:pt>
                <c:pt idx="1">
                  <c:v>27.0</c:v>
                </c:pt>
                <c:pt idx="2">
                  <c:v>21.0</c:v>
                </c:pt>
                <c:pt idx="3">
                  <c:v>21.0</c:v>
                </c:pt>
                <c:pt idx="4">
                  <c:v>16.0</c:v>
                </c:pt>
                <c:pt idx="5">
                  <c:v>0.0</c:v>
                </c:pt>
                <c:pt idx="6">
                  <c:v>21.0</c:v>
                </c:pt>
                <c:pt idx="7">
                  <c:v>20.0</c:v>
                </c:pt>
                <c:pt idx="8">
                  <c:v>30.0</c:v>
                </c:pt>
                <c:pt idx="9">
                  <c:v>21.0</c:v>
                </c:pt>
                <c:pt idx="10">
                  <c:v>21.0</c:v>
                </c:pt>
                <c:pt idx="11">
                  <c:v>22.0</c:v>
                </c:pt>
                <c:pt idx="12">
                  <c:v>21.0</c:v>
                </c:pt>
                <c:pt idx="15">
                  <c:v>26.0</c:v>
                </c:pt>
                <c:pt idx="16">
                  <c:v>21.0</c:v>
                </c:pt>
                <c:pt idx="17">
                  <c:v>20.0</c:v>
                </c:pt>
                <c:pt idx="18">
                  <c:v>18.0</c:v>
                </c:pt>
                <c:pt idx="19">
                  <c:v>15.0</c:v>
                </c:pt>
                <c:pt idx="20">
                  <c:v>23.0</c:v>
                </c:pt>
                <c:pt idx="21">
                  <c:v>22.0</c:v>
                </c:pt>
                <c:pt idx="22">
                  <c:v>27.0</c:v>
                </c:pt>
                <c:pt idx="23">
                  <c:v>24.0</c:v>
                </c:pt>
                <c:pt idx="24">
                  <c:v>27.0</c:v>
                </c:pt>
                <c:pt idx="25">
                  <c:v>21.0</c:v>
                </c:pt>
                <c:pt idx="26">
                  <c:v>20.0</c:v>
                </c:pt>
                <c:pt idx="27">
                  <c:v>17.0</c:v>
                </c:pt>
                <c:pt idx="28">
                  <c:v>16.0</c:v>
                </c:pt>
                <c:pt idx="29">
                  <c:v>20.0</c:v>
                </c:pt>
                <c:pt idx="30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Sheet1!$C$2:$C$32</c:f>
              <c:numCache>
                <c:formatCode>General</c:formatCode>
                <c:ptCount val="31"/>
                <c:pt idx="13">
                  <c:v>0.0</c:v>
                </c:pt>
                <c:pt idx="1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Orders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011680"/>
            <a:ext cx="11094415" cy="1280160"/>
          </a:xfrm>
        </p:spPr>
        <p:txBody>
          <a:bodyPr/>
          <a:lstStyle/>
          <a:p>
            <a:pPr algn="l"/>
            <a:r>
              <a:rPr sz="4400" b="1" i="0">
                <a:solidFill>
                  <a:srgbClr val="1F3A5F"/>
                </a:solidFill>
                <a:latin typeface="Calibri"/>
              </a:rPr>
              <a:t>Monthly performance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383280"/>
            <a:ext cx="11094415" cy="914400"/>
          </a:xfrm>
        </p:spPr>
        <p:txBody>
          <a:bodyPr/>
          <a:lstStyle/>
          <a:p>
            <a:pPr algn="l"/>
            <a:r>
              <a:rPr sz="2400" b="0" i="0">
                <a:solidFill>
                  <a:srgbClr val="1B7F8C"/>
                </a:solidFill>
                <a:latin typeface="Calibri"/>
              </a:rPr>
              <a:t>Example Outfitters,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5B6470"/>
                </a:solidFill>
                <a:latin typeface="Calibri"/>
              </a:rPr>
              <a:t>Sample report: the orders are invented, not a real store.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Net sales fell 1.8% from September (October is missing 2 days)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94413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1829"/>
                <a:gridCol w="1607886"/>
                <a:gridCol w="1607886"/>
                <a:gridCol w="1447097"/>
                <a:gridCol w="1045126"/>
                <a:gridCol w="2974589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October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September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Change %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607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589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Gross sales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$42,374.92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$42,639.05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-$264.13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-0.6%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Refunds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$2,125.90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$1,672.94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+$452.96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+27.1%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Net sales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$40,249.02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$40,966.11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-$717.09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-1.8%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Average order 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$69.81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$72.39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-$2.58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-3.6%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Buyers per active day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19.4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+1.3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+7.1%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Source: the store's daily order records.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Change % is the change over September's figure, n/a when that was zero. Buyers per active day is the average of each day's distinct buyers, over days with orders. Average order value is gross sales divided by orders.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Net sales by day in October</a:t>
            </a:r>
          </a:p>
        </p:txBody>
      </p:sp>
      <p:graphicFrame>
        <p:nvGraphicFramePr>
          <p:cNvPr id="3" name="Chart 2" descr="Line chart of net sales for each day of October 2026, with September 2026 as a grey line"/>
          <p:cNvGraphicFramePr>
            <a:graphicFrameLocks noGrp="1"/>
          </p:cNvGraphicFramePr>
          <p:nvPr/>
        </p:nvGraphicFramePr>
        <p:xfrm>
          <a:off x="548640" y="1371600"/>
          <a:ext cx="11094415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Day of the month across, net sales in dollars up.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dot on the zero line is a day with no orders.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break in the line with an X on the zero line is a day with no data (Oct 14, Oct 15). 29 of 31 days are plotted.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Orders by day in October</a:t>
            </a:r>
          </a:p>
        </p:txBody>
      </p:sp>
      <p:graphicFrame>
        <p:nvGraphicFramePr>
          <p:cNvPr id="3" name="Chart 2" descr="Line chart of orders for each day of October 2026"/>
          <p:cNvGraphicFramePr>
            <a:graphicFrameLocks noGrp="1"/>
          </p:cNvGraphicFramePr>
          <p:nvPr/>
        </p:nvGraphicFramePr>
        <p:xfrm>
          <a:off x="548640" y="1371600"/>
          <a:ext cx="11094415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Day of the month across, orders up.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dot on the zero line is a day with no orders.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break in the line with an X on the zero line is a day with no data (Oct 14, Oct 15). 29 of 31 days are plotted.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Order value, buyers and best days in October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94413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1829"/>
                <a:gridCol w="1607886"/>
                <a:gridCol w="1607886"/>
                <a:gridCol w="1447097"/>
                <a:gridCol w="1045126"/>
                <a:gridCol w="297458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October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September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Change %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Average order 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$69.81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$72.39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-$2.58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-3.6%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Buyers per active day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19.4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+1.3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+7.1%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06324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Calibri"/>
              </a:rPr>
              <a:t>Best days by net sales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474720"/>
          <a:ext cx="548639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56031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Day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Net sales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Oct 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$2,187.62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Oct 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$2,016.71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Oct 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$1,879.87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Change % is the change over September's figure, n/a when that was zero. Buyers per active day is the average of each day's distinct buyers, over days with orders. Average order value is gross sales divided by orders.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Refunds moved most, up 27.1% from September (October is missing 2 days)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2B2F36"/>
                </a:solidFill>
                <a:latin typeface="Calibri"/>
              </a:rPr>
              <a:t>Net sales were $40,249.02 in October, down 1.8% from September ($40,966.11), and October is missing 2 days.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B2F36"/>
                </a:solidFill>
                <a:latin typeface="Calibri"/>
              </a:rPr>
              <a:t>Orders were 607 in October, up 3.1% from September (589), and October is missing 2 days.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B2F36"/>
                </a:solidFill>
                <a:latin typeface="Calibri"/>
              </a:rPr>
              <a:t>Average order value was $69.81 in October, down 3.6% from September ($72.39), and October is missing 2 days.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B2F36"/>
                </a:solidFill>
                <a:latin typeface="Calibri"/>
              </a:rPr>
              <a:t>Refunds were $2,125.90 in October, up 27.1% from September ($1,672.94), and October is missing 2 days.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B2F36"/>
                </a:solidFill>
                <a:latin typeface="Calibri"/>
              </a:rPr>
              <a:t>The biggest move was Refunds, up 27.1% from September, and October is missing 2 days.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B2F36"/>
                </a:solidFill>
                <a:latin typeface="Calibri"/>
              </a:rPr>
              <a:t>The best day was Oct 31 with net sales of $2,187.62.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B2F36"/>
                </a:solidFill>
                <a:latin typeface="Calibri"/>
              </a:rPr>
              <a:t>2 days have no data (Oct 14, Oct 15), so the totals are understated.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Narrative written from the computed figures on the previous slides.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Data health: October is missing 2 of 31 days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94414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5900"/>
                <a:gridCol w="3349257"/>
                <a:gridCol w="3349257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October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September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Days in the month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Days with orders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Days with no orders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Days with no data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Stored daily figures used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First and last day with orders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Oct 1 to Oct 31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Sep 1 to Sep 30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2628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i="0">
                <a:solidFill>
                  <a:srgbClr val="2B2F36"/>
                </a:solidFill>
                <a:latin typeface="Calibri"/>
              </a:rPr>
              <a:t>Days with no data in October: Oct 14, Oct 15.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2B2F36"/>
                </a:solidFill>
                <a:latin typeface="Calibri"/>
              </a:rPr>
              <a:t>Days with no data in September: none.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2B2F36"/>
                </a:solidFill>
                <a:latin typeface="Calibri"/>
              </a:rPr>
              <a:t>A month with days missing is understated, so its changes are marked partial.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Days with orders, days with no orders and days with no data add up to the days in the month.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day with no orders is one where a data pull ran and found none. A day with no data is one no data pull covered.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api-analytics-hub</Application>
  <PresentationFormat>Widescreen</PresentationFormat>
  <Slides>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Monthly performance report, October 2026</dc:title>
  <dc:subject/>
  <dc:creator>api-analytics-hub</dc:creator>
  <cp:keywords/>
  <dc:description>Written by a fixed template from the computed figures (no model key is set). No model was used.</dc:description>
  <cp:lastModifiedBy>api-analytics-hub</cp:lastModifiedBy>
  <cp:revision>1</cp:revision>
  <dcterms:created xsi:type="dcterms:W3CDTF">2026-10-25T03:23:15Z</dcterms:created>
  <dcterms:modified xsi:type="dcterms:W3CDTF">2026-10-25T03:23:15Z</dcterms:modified>
  <cp:category/>
</cp:coreProperties>
</file>