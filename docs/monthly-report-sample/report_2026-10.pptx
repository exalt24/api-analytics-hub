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1093.34</c:v>
                </c:pt>
                <c:pt idx="1">
                  <c:v>1874.35</c:v>
                </c:pt>
                <c:pt idx="2">
                  <c:v>1507.8</c:v>
                </c:pt>
                <c:pt idx="3">
                  <c:v>1036.88</c:v>
                </c:pt>
                <c:pt idx="4">
                  <c:v>840.98</c:v>
                </c:pt>
                <c:pt idx="5">
                  <c:v>0.0</c:v>
                </c:pt>
                <c:pt idx="6">
                  <c:v>1349.98</c:v>
                </c:pt>
                <c:pt idx="7">
                  <c:v>1122.7</c:v>
                </c:pt>
                <c:pt idx="8">
                  <c:v>2016.71</c:v>
                </c:pt>
                <c:pt idx="9">
                  <c:v>1280.17</c:v>
                </c:pt>
                <c:pt idx="10">
                  <c:v>1461.66</c:v>
                </c:pt>
                <c:pt idx="11">
                  <c:v>1448.81</c:v>
                </c:pt>
                <c:pt idx="12">
                  <c:v>1303.19</c:v>
                </c:pt>
                <c:pt idx="15">
                  <c:v>1735.85</c:v>
                </c:pt>
                <c:pt idx="16">
                  <c:v>1453.31</c:v>
                </c:pt>
                <c:pt idx="17">
                  <c:v>1264.43</c:v>
                </c:pt>
                <c:pt idx="18">
                  <c:v>1117.28</c:v>
                </c:pt>
                <c:pt idx="19">
                  <c:v>960.38</c:v>
                </c:pt>
                <c:pt idx="20">
                  <c:v>1645.78</c:v>
                </c:pt>
                <c:pt idx="21">
                  <c:v>1705.15</c:v>
                </c:pt>
                <c:pt idx="22">
                  <c:v>1879.87</c:v>
                </c:pt>
                <c:pt idx="23">
                  <c:v>1710.42</c:v>
                </c:pt>
                <c:pt idx="24">
                  <c:v>1753.51</c:v>
                </c:pt>
                <c:pt idx="25">
                  <c:v>1363.46</c:v>
                </c:pt>
                <c:pt idx="26">
                  <c:v>1454.7</c:v>
                </c:pt>
                <c:pt idx="27">
                  <c:v>1140.96</c:v>
                </c:pt>
                <c:pt idx="28">
                  <c:v>1045.38</c:v>
                </c:pt>
                <c:pt idx="29">
                  <c:v>1494.35</c:v>
                </c:pt>
                <c:pt idx="30">
                  <c:v>2187.62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1250.0</c:v>
                </c:pt>
                <c:pt idx="1">
                  <c:v>1390.24</c:v>
                </c:pt>
                <c:pt idx="2">
                  <c:v>1465.96</c:v>
                </c:pt>
                <c:pt idx="3">
                  <c:v>1881.42</c:v>
                </c:pt>
                <c:pt idx="4">
                  <c:v>1838.65</c:v>
                </c:pt>
                <c:pt idx="5">
                  <c:v>1981.97</c:v>
                </c:pt>
                <c:pt idx="6">
                  <c:v>0.0</c:v>
                </c:pt>
                <c:pt idx="7">
                  <c:v>1212.26</c:v>
                </c:pt>
                <c:pt idx="8">
                  <c:v>1047.71</c:v>
                </c:pt>
                <c:pt idx="9">
                  <c:v>1107.8</c:v>
                </c:pt>
                <c:pt idx="10">
                  <c:v>1454.55</c:v>
                </c:pt>
                <c:pt idx="11">
                  <c:v>1891.53</c:v>
                </c:pt>
                <c:pt idx="12">
                  <c:v>2008.74</c:v>
                </c:pt>
                <c:pt idx="13">
                  <c:v>1415.63</c:v>
                </c:pt>
                <c:pt idx="14">
                  <c:v>1253.27</c:v>
                </c:pt>
                <c:pt idx="15">
                  <c:v>1094.08</c:v>
                </c:pt>
                <c:pt idx="16">
                  <c:v>1592.91</c:v>
                </c:pt>
                <c:pt idx="17">
                  <c:v>1839.95</c:v>
                </c:pt>
                <c:pt idx="18">
                  <c:v>1648.79</c:v>
                </c:pt>
                <c:pt idx="19">
                  <c:v>1099.31</c:v>
                </c:pt>
                <c:pt idx="20">
                  <c:v>1295.03</c:v>
                </c:pt>
                <c:pt idx="21">
                  <c:v>0.0</c:v>
                </c:pt>
                <c:pt idx="22">
                  <c:v>1097.83</c:v>
                </c:pt>
                <c:pt idx="23">
                  <c:v>1651.48</c:v>
                </c:pt>
                <c:pt idx="24">
                  <c:v>2077.77</c:v>
                </c:pt>
                <c:pt idx="25">
                  <c:v>1355.29</c:v>
                </c:pt>
                <c:pt idx="26">
                  <c:v>1790.66</c:v>
                </c:pt>
                <c:pt idx="27">
                  <c:v>1082.55</c:v>
                </c:pt>
                <c:pt idx="28">
                  <c:v>1139.63</c:v>
                </c:pt>
                <c:pt idx="29">
                  <c:v>1001.1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rgbClr val="1B7F8C"/>
            </a:solidFill>
          </c:spP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</c:v>
                </c:pt>
                <c:pt idx="1">
                  <c:v>27</c:v>
                </c:pt>
                <c:pt idx="2">
                  <c:v>21</c:v>
                </c:pt>
                <c:pt idx="3">
                  <c:v>21</c:v>
                </c:pt>
                <c:pt idx="4">
                  <c:v>16</c:v>
                </c:pt>
                <c:pt idx="5">
                  <c:v>0</c:v>
                </c:pt>
                <c:pt idx="6">
                  <c:v>21</c:v>
                </c:pt>
                <c:pt idx="7">
                  <c:v>20</c:v>
                </c:pt>
                <c:pt idx="8">
                  <c:v>30</c:v>
                </c:pt>
                <c:pt idx="9">
                  <c:v>21</c:v>
                </c:pt>
                <c:pt idx="10">
                  <c:v>21</c:v>
                </c:pt>
                <c:pt idx="11">
                  <c:v>22</c:v>
                </c:pt>
                <c:pt idx="12">
                  <c:v>21</c:v>
                </c:pt>
                <c:pt idx="15">
                  <c:v>26</c:v>
                </c:pt>
                <c:pt idx="16">
                  <c:v>21</c:v>
                </c:pt>
                <c:pt idx="17">
                  <c:v>20</c:v>
                </c:pt>
                <c:pt idx="18">
                  <c:v>18</c:v>
                </c:pt>
                <c:pt idx="19">
                  <c:v>15</c:v>
                </c:pt>
                <c:pt idx="20">
                  <c:v>23</c:v>
                </c:pt>
                <c:pt idx="21">
                  <c:v>22</c:v>
                </c:pt>
                <c:pt idx="22">
                  <c:v>27</c:v>
                </c:pt>
                <c:pt idx="23">
                  <c:v>24</c:v>
                </c:pt>
                <c:pt idx="24">
                  <c:v>27</c:v>
                </c:pt>
                <c:pt idx="25">
                  <c:v>21</c:v>
                </c:pt>
                <c:pt idx="26">
                  <c:v>20</c:v>
                </c:pt>
                <c:pt idx="27">
                  <c:v>17</c:v>
                </c:pt>
                <c:pt idx="28">
                  <c:v>16</c:v>
                </c:pt>
                <c:pt idx="29">
                  <c:v>20</c:v>
                </c:pt>
                <c:pt idx="30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11680"/>
            <a:ext cx="11094415" cy="1280160"/>
          </a:xfrm>
        </p:spPr>
        <p:txBody>
          <a:bodyPr/>
          <a:lstStyle/>
          <a:p>
            <a:pPr algn="l"/>
            <a:r>
              <a:rPr sz="4400" b="1" i="0">
                <a:solidFill>
                  <a:srgbClr val="1F3A5F"/>
                </a:solidFill>
                <a:latin typeface="Calibri"/>
              </a:rPr>
              <a:t>Monthly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11094415" cy="914400"/>
          </a:xfrm>
        </p:spPr>
        <p:txBody>
          <a:bodyPr/>
          <a:lstStyle/>
          <a:p>
            <a:pPr algn="l"/>
            <a:r>
              <a:rPr sz="2400" b="0" i="0">
                <a:solidFill>
                  <a:srgbClr val="1B7F8C"/>
                </a:solidFill>
                <a:latin typeface="Calibri"/>
              </a:rPr>
              <a:t>Demo store,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5B6470"/>
                </a:solidFill>
                <a:latin typeface="Calibri"/>
              </a:rPr>
              <a:t>Invented orders from a fixed seed. Not a real store.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fell 1.8% on September 2026 to USD 40,249.02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3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932"/>
                <a:gridCol w="1877516"/>
                <a:gridCol w="1877516"/>
                <a:gridCol w="1706833"/>
                <a:gridCol w="1194783"/>
                <a:gridCol w="1706833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Gross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42,374.92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42,639.05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-USD 264.13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Refunds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2,125.90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1,672.94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+USD 452.96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+27.1%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40,249.02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40,966.11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-USD 717.09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-1.8%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USD 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-USD 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+7.2%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partial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stored daily snapshots. Change % is the change over the previous month's value, n/a when that value is zero or absent.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by day, October 2026</a:t>
            </a:r>
          </a:p>
        </p:txBody>
      </p:sp>
      <p:graphicFrame>
        <p:nvGraphicFramePr>
          <p:cNvPr id="3" name="Chart 2" descr="Line chart of net sale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on the horizontal axis, net sales in USD. Gaps in the line are days with no snapshot and no sync run: 2026-10-14, 2026-10-15.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Orders by day, October 2026</a:t>
            </a:r>
          </a:p>
        </p:txBody>
      </p:sp>
      <p:graphicFrame>
        <p:nvGraphicFramePr>
          <p:cNvPr id="3" name="Chart 2" descr="Column chart of orders for each day of October 2026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on the horizontal axis. A day with no column had no orders or no data. Days with no snapshot and no sync run: 2026-10-14, 2026-10-15.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Average order value fell 3.6% on September 2026 to USD 69.81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811"/>
                <a:gridCol w="2295396"/>
                <a:gridCol w="2295396"/>
                <a:gridCol w="1912830"/>
                <a:gridCol w="13389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USD 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USD 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-USD 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+7.2%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46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Calibri"/>
              </a:rPr>
              <a:t>Best days by net sales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657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16"/>
                <a:gridCol w="4754749"/>
                <a:gridCol w="475474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2026-10-31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USD 2,187.62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USD 2,016.71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B2F36"/>
                          </a:solidFill>
                          <a:latin typeface="Calibri"/>
                        </a:rPr>
                        <a:t>USD 1,879.87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Average order value is gross sales over orders for the month. Buyers per active day is the mean of the daily distinct buyer counts, which cannot be summed across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What the numbers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Net sales were USD 40,249.02 in October 2026, down 1.8% on September 2026 (USD 40,966.11).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Orders were 607 in October 2026, up 3.1% on September 2026 (589).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Average order value was USD 69.81, down 3.6% on September 2026.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Refunds were USD 2,125.90.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The best day was 2026-10-31 with net sales of USD 2,187.62.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2 days have no data (2026-10-14, 2026-10-15), so the totals are understated.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 i="1">
                <a:solidFill>
                  <a:srgbClr val="5B6470"/>
                </a:solidFill>
                <a:latin typeface="Calibri"/>
              </a:rPr>
              <a:t>Written by a fixed template from the computed figures (no model key is set). No model was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94415" cy="91440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Data health: 28 of 31 days have data in October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4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5900"/>
                <a:gridCol w="3349257"/>
                <a:gridCol w="3349257"/>
              </a:tblGrid>
              <a:tr h="420624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expected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snapshots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no orders (a sync ran)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missing (no snapshot, no sync)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Snapshot rows 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First and last day with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2026-10-01 to 2026-10-31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2026-09-01 to 2026-09-30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944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Missing days in October 2026: 2026-10-14, 2026-10-15.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Missing days in September 2026: none.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Totals for a month with missing days are understated, so its changes are marked partial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day counts as a quiet day only when a succeeded or partial sync run's window covers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performance report, October 2026</dc:title>
  <dc:subject/>
  <dc:creator>api-analytics-hub</dc:creator>
  <cp:keywords/>
  <dc:description/>
  <cp:lastModifiedBy>api-analytics-hub</cp:lastModifiedBy>
  <cp:revision>1</cp:revision>
  <dcterms:created xsi:type="dcterms:W3CDTF">2026-10-25T02:50:17Z</dcterms:created>
  <dcterms:modified xsi:type="dcterms:W3CDTF">2026-10-25T02:50:17Z</dcterms:modified>
  <cp:category/>
</cp:coreProperties>
</file>