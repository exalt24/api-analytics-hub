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October 2026</c:v>
                </c:pt>
              </c:strCache>
            </c:strRef>
          </c:tx>
          <c:spPr>
            <a:ln w="31750">
              <a:solidFill>
                <a:srgbClr val="1B7F8C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1B7F8C"/>
                </a:solidFill>
                <a:ln>
                  <a:solidFill>
                    <a:srgbClr val="1B7F8C"/>
                  </a:solidFill>
                </a:ln>
              </c:spPr>
            </c:marker>
          </c:dPt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1093.34</c:v>
                </c:pt>
                <c:pt idx="1">
                  <c:v>1874.35</c:v>
                </c:pt>
                <c:pt idx="2">
                  <c:v>1507.8</c:v>
                </c:pt>
                <c:pt idx="3">
                  <c:v>1036.88</c:v>
                </c:pt>
                <c:pt idx="4">
                  <c:v>840.98</c:v>
                </c:pt>
                <c:pt idx="5">
                  <c:v>0.0</c:v>
                </c:pt>
                <c:pt idx="6">
                  <c:v>1349.98</c:v>
                </c:pt>
                <c:pt idx="7">
                  <c:v>1122.7</c:v>
                </c:pt>
                <c:pt idx="8">
                  <c:v>2016.71</c:v>
                </c:pt>
                <c:pt idx="9">
                  <c:v>1280.17</c:v>
                </c:pt>
                <c:pt idx="10">
                  <c:v>1461.66</c:v>
                </c:pt>
                <c:pt idx="11">
                  <c:v>1448.81</c:v>
                </c:pt>
                <c:pt idx="12">
                  <c:v>1303.19</c:v>
                </c:pt>
                <c:pt idx="15">
                  <c:v>1735.85</c:v>
                </c:pt>
                <c:pt idx="16">
                  <c:v>1453.31</c:v>
                </c:pt>
                <c:pt idx="17">
                  <c:v>1264.43</c:v>
                </c:pt>
                <c:pt idx="18">
                  <c:v>1117.28</c:v>
                </c:pt>
                <c:pt idx="19">
                  <c:v>960.38</c:v>
                </c:pt>
                <c:pt idx="20">
                  <c:v>1645.78</c:v>
                </c:pt>
                <c:pt idx="21">
                  <c:v>1705.15</c:v>
                </c:pt>
                <c:pt idx="22">
                  <c:v>1879.87</c:v>
                </c:pt>
                <c:pt idx="23">
                  <c:v>1710.42</c:v>
                </c:pt>
                <c:pt idx="24">
                  <c:v>1753.51</c:v>
                </c:pt>
                <c:pt idx="25">
                  <c:v>1363.46</c:v>
                </c:pt>
                <c:pt idx="26">
                  <c:v>1454.7</c:v>
                </c:pt>
                <c:pt idx="27">
                  <c:v>1140.96</c:v>
                </c:pt>
                <c:pt idx="28">
                  <c:v>1045.38</c:v>
                </c:pt>
                <c:pt idx="29">
                  <c:v>1494.35</c:v>
                </c:pt>
                <c:pt idx="30">
                  <c:v>2187.62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ln w="31750">
              <a:solidFill>
                <a:srgbClr val="8A94A0"/>
              </a:solidFill>
            </a:ln>
          </c:spPr>
          <c:marker>
            <c:symbol val="none"/>
          </c:marker>
          <c:dPt>
            <c:idx val="6"/>
            <c:marker>
              <c:symbol val="circle"/>
              <c:size val="9"/>
              <c:spPr>
                <a:solidFill>
                  <a:srgbClr val="8A94A0"/>
                </a:solidFill>
                <a:ln>
                  <a:solidFill>
                    <a:srgbClr val="8A94A0"/>
                  </a:solidFill>
                </a:ln>
              </c:spPr>
            </c:marker>
          </c:dPt>
          <c:dPt>
            <c:idx val="21"/>
            <c:marker>
              <c:symbol val="circle"/>
              <c:size val="9"/>
              <c:spPr>
                <a:solidFill>
                  <a:srgbClr val="8A94A0"/>
                </a:solidFill>
                <a:ln>
                  <a:solidFill>
                    <a:srgbClr val="8A94A0"/>
                  </a:solidFill>
                </a:ln>
              </c:spPr>
            </c:marker>
          </c:dPt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1250.0</c:v>
                </c:pt>
                <c:pt idx="1">
                  <c:v>1390.24</c:v>
                </c:pt>
                <c:pt idx="2">
                  <c:v>1465.96</c:v>
                </c:pt>
                <c:pt idx="3">
                  <c:v>1881.42</c:v>
                </c:pt>
                <c:pt idx="4">
                  <c:v>1838.65</c:v>
                </c:pt>
                <c:pt idx="5">
                  <c:v>1981.97</c:v>
                </c:pt>
                <c:pt idx="6">
                  <c:v>0.0</c:v>
                </c:pt>
                <c:pt idx="7">
                  <c:v>1212.26</c:v>
                </c:pt>
                <c:pt idx="8">
                  <c:v>1047.71</c:v>
                </c:pt>
                <c:pt idx="9">
                  <c:v>1107.8</c:v>
                </c:pt>
                <c:pt idx="10">
                  <c:v>1454.55</c:v>
                </c:pt>
                <c:pt idx="11">
                  <c:v>1891.53</c:v>
                </c:pt>
                <c:pt idx="12">
                  <c:v>2008.74</c:v>
                </c:pt>
                <c:pt idx="13">
                  <c:v>1415.63</c:v>
                </c:pt>
                <c:pt idx="14">
                  <c:v>1253.27</c:v>
                </c:pt>
                <c:pt idx="15">
                  <c:v>1094.08</c:v>
                </c:pt>
                <c:pt idx="16">
                  <c:v>1592.91</c:v>
                </c:pt>
                <c:pt idx="17">
                  <c:v>1839.95</c:v>
                </c:pt>
                <c:pt idx="18">
                  <c:v>1648.79</c:v>
                </c:pt>
                <c:pt idx="19">
                  <c:v>1099.31</c:v>
                </c:pt>
                <c:pt idx="20">
                  <c:v>1295.03</c:v>
                </c:pt>
                <c:pt idx="21">
                  <c:v>0.0</c:v>
                </c:pt>
                <c:pt idx="22">
                  <c:v>1097.83</c:v>
                </c:pt>
                <c:pt idx="23">
                  <c:v>1651.48</c:v>
                </c:pt>
                <c:pt idx="24">
                  <c:v>2077.77</c:v>
                </c:pt>
                <c:pt idx="25">
                  <c:v>1355.29</c:v>
                </c:pt>
                <c:pt idx="26">
                  <c:v>1790.66</c:v>
                </c:pt>
                <c:pt idx="27">
                  <c:v>1082.55</c:v>
                </c:pt>
                <c:pt idx="28">
                  <c:v>1139.63</c:v>
                </c:pt>
                <c:pt idx="29">
                  <c:v>1001.1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Day with no data</c:v>
                </c:pt>
              </c:strCache>
            </c:strRef>
          </c:tx>
          <c:spPr>
            <a:ln>
              <a:noFill/>
            </a:ln>
          </c:spPr>
          <c:marker>
            <c:symbol val="x"/>
            <c:size val="10"/>
            <c:spPr>
              <a:ln>
                <a:solidFill>
                  <a:srgbClr val="B44A1E"/>
                </a:solidFill>
              </a:ln>
            </c:spPr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13">
                  <c:v>0.0</c:v>
                </c:pt>
                <c:pt idx="1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94A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>
                    <a:solidFill>
                      <a:srgbClr val="5B6470"/>
                    </a:solidFill>
                    <a:latin typeface="Calibri"/>
                  </a:rPr>
                  <a:t>Net sales ($)</a:t>
                </a:r>
              </a:p>
            </c:rich>
          </c:tx>
          <c:layout/>
          <c:overlay val="0"/>
        </c:title>
        <c:numFmt formatCode="&quot;$&quot;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2B2F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October 2026</c:v>
                </c:pt>
              </c:strCache>
            </c:strRef>
          </c:tx>
          <c:spPr>
            <a:ln w="31750">
              <a:solidFill>
                <a:srgbClr val="1B7F8C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626.0</c:v>
                </c:pt>
                <c:pt idx="1">
                  <c:v>954.0</c:v>
                </c:pt>
                <c:pt idx="5">
                  <c:v>521.0</c:v>
                </c:pt>
                <c:pt idx="6">
                  <c:v>669.0</c:v>
                </c:pt>
                <c:pt idx="7">
                  <c:v>627.0</c:v>
                </c:pt>
                <c:pt idx="8">
                  <c:v>1348.0</c:v>
                </c:pt>
                <c:pt idx="9">
                  <c:v>611.0</c:v>
                </c:pt>
                <c:pt idx="10">
                  <c:v>635.0</c:v>
                </c:pt>
                <c:pt idx="11">
                  <c:v>785.0</c:v>
                </c:pt>
                <c:pt idx="12">
                  <c:v>792.0</c:v>
                </c:pt>
                <c:pt idx="13">
                  <c:v>506.0</c:v>
                </c:pt>
                <c:pt idx="14">
                  <c:v>777.0</c:v>
                </c:pt>
                <c:pt idx="15">
                  <c:v>876.0</c:v>
                </c:pt>
                <c:pt idx="16">
                  <c:v>757.0</c:v>
                </c:pt>
                <c:pt idx="17">
                  <c:v>887.0</c:v>
                </c:pt>
                <c:pt idx="18">
                  <c:v>756.0</c:v>
                </c:pt>
                <c:pt idx="19">
                  <c:v>676.0</c:v>
                </c:pt>
                <c:pt idx="20">
                  <c:v>1052.0</c:v>
                </c:pt>
                <c:pt idx="21">
                  <c:v>668.0</c:v>
                </c:pt>
                <c:pt idx="22">
                  <c:v>890.0</c:v>
                </c:pt>
                <c:pt idx="23">
                  <c:v>689.0</c:v>
                </c:pt>
                <c:pt idx="24">
                  <c:v>1037.0</c:v>
                </c:pt>
                <c:pt idx="25">
                  <c:v>850.0</c:v>
                </c:pt>
                <c:pt idx="26">
                  <c:v>850.0</c:v>
                </c:pt>
                <c:pt idx="27">
                  <c:v>770.0</c:v>
                </c:pt>
                <c:pt idx="28">
                  <c:v>504.0</c:v>
                </c:pt>
                <c:pt idx="29">
                  <c:v>686.0</c:v>
                </c:pt>
                <c:pt idx="30">
                  <c:v>1013.0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ln w="31750">
              <a:solidFill>
                <a:srgbClr val="8A94A0"/>
              </a:solidFill>
            </a:ln>
          </c:spPr>
          <c:marker>
            <c:symbol val="none"/>
          </c:marker>
          <c:dPt>
            <c:idx val="14"/>
            <c:marker>
              <c:symbol val="circle"/>
              <c:size val="9"/>
              <c:spPr>
                <a:solidFill>
                  <a:srgbClr val="8A94A0"/>
                </a:solidFill>
                <a:ln>
                  <a:solidFill>
                    <a:srgbClr val="8A94A0"/>
                  </a:solidFill>
                </a:ln>
              </c:spPr>
            </c:marker>
          </c:dPt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514.0</c:v>
                </c:pt>
                <c:pt idx="1">
                  <c:v>641.0</c:v>
                </c:pt>
                <c:pt idx="2">
                  <c:v>579.0</c:v>
                </c:pt>
                <c:pt idx="3">
                  <c:v>1078.0</c:v>
                </c:pt>
                <c:pt idx="4">
                  <c:v>1136.0</c:v>
                </c:pt>
                <c:pt idx="5">
                  <c:v>1283.0</c:v>
                </c:pt>
                <c:pt idx="6">
                  <c:v>512.0</c:v>
                </c:pt>
                <c:pt idx="7">
                  <c:v>892.0</c:v>
                </c:pt>
                <c:pt idx="8">
                  <c:v>643.0</c:v>
                </c:pt>
                <c:pt idx="9">
                  <c:v>776.0</c:v>
                </c:pt>
                <c:pt idx="10">
                  <c:v>724.0</c:v>
                </c:pt>
                <c:pt idx="11">
                  <c:v>1138.0</c:v>
                </c:pt>
                <c:pt idx="12">
                  <c:v>1237.0</c:v>
                </c:pt>
                <c:pt idx="13">
                  <c:v>886.0</c:v>
                </c:pt>
                <c:pt idx="14">
                  <c:v>0.0</c:v>
                </c:pt>
                <c:pt idx="15">
                  <c:v>714.0</c:v>
                </c:pt>
                <c:pt idx="16">
                  <c:v>871.0</c:v>
                </c:pt>
                <c:pt idx="17">
                  <c:v>1045.0</c:v>
                </c:pt>
                <c:pt idx="18">
                  <c:v>928.0</c:v>
                </c:pt>
                <c:pt idx="19">
                  <c:v>768.0</c:v>
                </c:pt>
                <c:pt idx="20">
                  <c:v>843.0</c:v>
                </c:pt>
                <c:pt idx="21">
                  <c:v>605.0</c:v>
                </c:pt>
                <c:pt idx="22">
                  <c:v>731.0</c:v>
                </c:pt>
                <c:pt idx="23">
                  <c:v>820.0</c:v>
                </c:pt>
                <c:pt idx="24">
                  <c:v>889.0</c:v>
                </c:pt>
                <c:pt idx="25">
                  <c:v>916.0</c:v>
                </c:pt>
                <c:pt idx="26">
                  <c:v>983.0</c:v>
                </c:pt>
                <c:pt idx="27">
                  <c:v>561.0</c:v>
                </c:pt>
                <c:pt idx="28">
                  <c:v>590.0</c:v>
                </c:pt>
                <c:pt idx="29">
                  <c:v>573.0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Day with no data</c:v>
                </c:pt>
              </c:strCache>
            </c:strRef>
          </c:tx>
          <c:spPr>
            <a:ln>
              <a:noFill/>
            </a:ln>
          </c:spPr>
          <c:marker>
            <c:symbol val="x"/>
            <c:size val="10"/>
            <c:spPr>
              <a:ln>
                <a:solidFill>
                  <a:srgbClr val="B44A1E"/>
                </a:solidFill>
              </a:ln>
            </c:spPr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94A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>
                    <a:solidFill>
                      <a:srgbClr val="5B6470"/>
                    </a:solidFill>
                    <a:latin typeface="Calibri"/>
                  </a:rPr>
                  <a:t>Sessions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2B2F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October 2026</c:v>
                </c:pt>
              </c:strCache>
            </c:strRef>
          </c:tx>
          <c:spPr>
            <a:ln w="31750">
              <a:solidFill>
                <a:srgbClr val="1B7F8C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1B7F8C"/>
                </a:solidFill>
                <a:ln>
                  <a:solidFill>
                    <a:srgbClr val="1B7F8C"/>
                  </a:solidFill>
                </a:ln>
              </c:spPr>
            </c:marker>
          </c:dPt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19.0</c:v>
                </c:pt>
                <c:pt idx="1">
                  <c:v>27.0</c:v>
                </c:pt>
                <c:pt idx="2">
                  <c:v>21.0</c:v>
                </c:pt>
                <c:pt idx="3">
                  <c:v>21.0</c:v>
                </c:pt>
                <c:pt idx="4">
                  <c:v>16.0</c:v>
                </c:pt>
                <c:pt idx="5">
                  <c:v>0.0</c:v>
                </c:pt>
                <c:pt idx="6">
                  <c:v>21.0</c:v>
                </c:pt>
                <c:pt idx="7">
                  <c:v>20.0</c:v>
                </c:pt>
                <c:pt idx="8">
                  <c:v>30.0</c:v>
                </c:pt>
                <c:pt idx="9">
                  <c:v>21.0</c:v>
                </c:pt>
                <c:pt idx="10">
                  <c:v>21.0</c:v>
                </c:pt>
                <c:pt idx="11">
                  <c:v>22.0</c:v>
                </c:pt>
                <c:pt idx="12">
                  <c:v>21.0</c:v>
                </c:pt>
                <c:pt idx="15">
                  <c:v>26.0</c:v>
                </c:pt>
                <c:pt idx="16">
                  <c:v>21.0</c:v>
                </c:pt>
                <c:pt idx="17">
                  <c:v>20.0</c:v>
                </c:pt>
                <c:pt idx="18">
                  <c:v>18.0</c:v>
                </c:pt>
                <c:pt idx="19">
                  <c:v>15.0</c:v>
                </c:pt>
                <c:pt idx="20">
                  <c:v>23.0</c:v>
                </c:pt>
                <c:pt idx="21">
                  <c:v>22.0</c:v>
                </c:pt>
                <c:pt idx="22">
                  <c:v>27.0</c:v>
                </c:pt>
                <c:pt idx="23">
                  <c:v>24.0</c:v>
                </c:pt>
                <c:pt idx="24">
                  <c:v>27.0</c:v>
                </c:pt>
                <c:pt idx="25">
                  <c:v>21.0</c:v>
                </c:pt>
                <c:pt idx="26">
                  <c:v>20.0</c:v>
                </c:pt>
                <c:pt idx="27">
                  <c:v>17.0</c:v>
                </c:pt>
                <c:pt idx="28">
                  <c:v>16.0</c:v>
                </c:pt>
                <c:pt idx="29">
                  <c:v>20.0</c:v>
                </c:pt>
                <c:pt idx="30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ln w="31750">
              <a:solidFill>
                <a:srgbClr val="8A94A0"/>
              </a:solidFill>
            </a:ln>
          </c:spPr>
          <c:marker>
            <c:symbol val="none"/>
          </c:marker>
          <c:dPt>
            <c:idx val="6"/>
            <c:marker>
              <c:symbol val="circle"/>
              <c:size val="9"/>
              <c:spPr>
                <a:solidFill>
                  <a:srgbClr val="8A94A0"/>
                </a:solidFill>
                <a:ln>
                  <a:solidFill>
                    <a:srgbClr val="8A94A0"/>
                  </a:solidFill>
                </a:ln>
              </c:spPr>
            </c:marker>
          </c:dPt>
          <c:dPt>
            <c:idx val="21"/>
            <c:marker>
              <c:symbol val="circle"/>
              <c:size val="9"/>
              <c:spPr>
                <a:solidFill>
                  <a:srgbClr val="8A94A0"/>
                </a:solidFill>
                <a:ln>
                  <a:solidFill>
                    <a:srgbClr val="8A94A0"/>
                  </a:solidFill>
                </a:ln>
              </c:spPr>
            </c:marker>
          </c:dPt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15.0</c:v>
                </c:pt>
                <c:pt idx="1">
                  <c:v>18.0</c:v>
                </c:pt>
                <c:pt idx="2">
                  <c:v>18.0</c:v>
                </c:pt>
                <c:pt idx="3">
                  <c:v>28.0</c:v>
                </c:pt>
                <c:pt idx="4">
                  <c:v>28.0</c:v>
                </c:pt>
                <c:pt idx="5">
                  <c:v>29.0</c:v>
                </c:pt>
                <c:pt idx="6">
                  <c:v>0.0</c:v>
                </c:pt>
                <c:pt idx="7">
                  <c:v>20.0</c:v>
                </c:pt>
                <c:pt idx="8">
                  <c:v>14.0</c:v>
                </c:pt>
                <c:pt idx="9">
                  <c:v>16.0</c:v>
                </c:pt>
                <c:pt idx="10">
                  <c:v>22.0</c:v>
                </c:pt>
                <c:pt idx="11">
                  <c:v>25.0</c:v>
                </c:pt>
                <c:pt idx="12">
                  <c:v>29.0</c:v>
                </c:pt>
                <c:pt idx="13">
                  <c:v>21.0</c:v>
                </c:pt>
                <c:pt idx="14">
                  <c:v>16.0</c:v>
                </c:pt>
                <c:pt idx="15">
                  <c:v>16.0</c:v>
                </c:pt>
                <c:pt idx="16">
                  <c:v>22.0</c:v>
                </c:pt>
                <c:pt idx="17">
                  <c:v>29.0</c:v>
                </c:pt>
                <c:pt idx="18">
                  <c:v>24.0</c:v>
                </c:pt>
                <c:pt idx="19">
                  <c:v>18.0</c:v>
                </c:pt>
                <c:pt idx="20">
                  <c:v>19.0</c:v>
                </c:pt>
                <c:pt idx="21">
                  <c:v>0.0</c:v>
                </c:pt>
                <c:pt idx="22">
                  <c:v>17.0</c:v>
                </c:pt>
                <c:pt idx="23">
                  <c:v>22.0</c:v>
                </c:pt>
                <c:pt idx="24">
                  <c:v>29.0</c:v>
                </c:pt>
                <c:pt idx="25">
                  <c:v>21.0</c:v>
                </c:pt>
                <c:pt idx="26">
                  <c:v>24.0</c:v>
                </c:pt>
                <c:pt idx="27">
                  <c:v>18.0</c:v>
                </c:pt>
                <c:pt idx="28">
                  <c:v>17.0</c:v>
                </c:pt>
                <c:pt idx="29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Day with no data</c:v>
                </c:pt>
              </c:strCache>
            </c:strRef>
          </c:tx>
          <c:spPr>
            <a:ln>
              <a:noFill/>
            </a:ln>
          </c:spPr>
          <c:marker>
            <c:symbol val="x"/>
            <c:size val="10"/>
            <c:spPr>
              <a:ln>
                <a:solidFill>
                  <a:srgbClr val="B44A1E"/>
                </a:solidFill>
              </a:ln>
            </c:spPr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13">
                  <c:v>0.0</c:v>
                </c:pt>
                <c:pt idx="1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94A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>
                    <a:solidFill>
                      <a:srgbClr val="5B6470"/>
                    </a:solidFill>
                    <a:latin typeface="Calibri"/>
                  </a:rP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2B2F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11680"/>
            <a:ext cx="11094415" cy="1280160"/>
          </a:xfrm>
        </p:spPr>
        <p:txBody>
          <a:bodyPr/>
          <a:lstStyle/>
          <a:p>
            <a:pPr algn="l"/>
            <a:r>
              <a:rPr sz="4400" b="1" i="0">
                <a:solidFill>
                  <a:srgbClr val="1F3A5F"/>
                </a:solidFill>
                <a:latin typeface="Calibri"/>
              </a:rPr>
              <a:t>Monthly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383280"/>
            <a:ext cx="11094415" cy="914400"/>
          </a:xfrm>
        </p:spPr>
        <p:txBody>
          <a:bodyPr/>
          <a:lstStyle/>
          <a:p>
            <a:pPr algn="l"/>
            <a:r>
              <a:rPr sz="2400" b="0" i="0">
                <a:solidFill>
                  <a:srgbClr val="1B7F8C"/>
                </a:solidFill>
                <a:latin typeface="Calibri"/>
              </a:rPr>
              <a:t>Example Outfitters,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5B6470"/>
                </a:solidFill>
                <a:latin typeface="Calibri"/>
              </a:rPr>
              <a:t>Sample report: invented store orders and website figures. The website side ran against a stand-in server, not Google.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October net sales total is 1.8% below September, but October is missing 2 days: per reported day it is up 1.6%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3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829"/>
                <a:gridCol w="1607886"/>
                <a:gridCol w="1607886"/>
                <a:gridCol w="1447097"/>
                <a:gridCol w="1045126"/>
                <a:gridCol w="2974589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September 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Change %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589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+3.1%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missing; per reported day up 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Gross sales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$42,374.92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$42,639.05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-$264.13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missing; per reported day up 2.8%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Refunds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$2,125.90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$1,672.94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+$452.96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+27.1%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missing; per reported day up 31.5%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Net sales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$40,249.02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$40,966.11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-$717.09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-1.8%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missing; per reported day up 1.6%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Average order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$69.81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$72.39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-$2.58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Buyers per active day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18.1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+1.3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+7.1%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Source: the store's daily order records.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Change % is the change over September's figure, n/a when that was zero. Buyers per active day is the average of each day's distinct buyers, over days with orders. Average order value is gross sales divided by orders.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Per reported day divides a total by the days with orders plus the days with no orders, so months with different numbers of days with data can be compared.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Net sales by day in October</a:t>
            </a:r>
          </a:p>
        </p:txBody>
      </p:sp>
      <p:graphicFrame>
        <p:nvGraphicFramePr>
          <p:cNvPr id="3" name="Chart 2" descr="Line chart of net sales for each day of October 2026, with September 2026 as a grey line"/>
          <p:cNvGraphicFramePr>
            <a:graphicFrameLocks noGrp="1"/>
          </p:cNvGraphicFramePr>
          <p:nvPr/>
        </p:nvGraphicFramePr>
        <p:xfrm>
          <a:off x="548640" y="1371600"/>
          <a:ext cx="11094415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Day of the month across, net sales in dollars up.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 dot on the zero line is a day with no orders, on either line.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 break in the line with an X on the zero line is a day with no data (Oct 14, Oct 15). 29 of 31 days are plotted.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Sessions and orders by day in October</a:t>
            </a:r>
          </a:p>
        </p:txBody>
      </p:sp>
      <p:graphicFrame>
        <p:nvGraphicFramePr>
          <p:cNvPr id="3" name="Chart 2" descr="Line chart of website sessions for each day of October 2026, with September 2026 as a grey line"/>
          <p:cNvGraphicFramePr>
            <a:graphicFrameLocks noGrp="1"/>
          </p:cNvGraphicFramePr>
          <p:nvPr/>
        </p:nvGraphicFramePr>
        <p:xfrm>
          <a:off x="548640" y="1371600"/>
          <a:ext cx="5410047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 descr="Line chart of orders for each day of October 2026, with September 2026 as a grey line"/>
          <p:cNvGraphicFramePr>
            <a:graphicFrameLocks noGrp="1"/>
          </p:cNvGraphicFramePr>
          <p:nvPr/>
        </p:nvGraphicFramePr>
        <p:xfrm>
          <a:off x="6233007" y="1371600"/>
          <a:ext cx="5410047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Day of the month across. Left: website sessions. Right: orders. The grey line is the month before.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Sessions: a break with an X is a day with no data (Oct 3, Oct 4, Oct 5).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Orders: a dot on the zero line is a day with no orders, a break with an X is a day with no data (Oct 14, Oct 15).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Order value, buyers and best days in October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3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829"/>
                <a:gridCol w="1607886"/>
                <a:gridCol w="1607886"/>
                <a:gridCol w="1447097"/>
                <a:gridCol w="1045126"/>
                <a:gridCol w="297458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September 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Change %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Average order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$69.81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$72.39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-$2.58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-3.6%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Buyers per active day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18.1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+1.3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+7.1%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October partial: 2 days missing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063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Calibri"/>
              </a:rPr>
              <a:t>Best days by net sales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74720"/>
          <a:ext cx="54863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56031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Net sales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Oct 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$2,187.62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Oct 9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$2,016.71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Oct 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2B2F36"/>
                          </a:solidFill>
                          <a:latin typeface="Calibri"/>
                        </a:rPr>
                        <a:t>$1,879.87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Change % is the change over September's figure, n/a when that was zero. Buyers per active day is the average of each day's distinct buyers, over days with orders. Average order value is gross sales divided by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October sessions total is 8.6% below September, but October is missing 3 days of website data: per reported day it is down 2.1%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214"/>
                <a:gridCol w="1436686"/>
                <a:gridCol w="1436686"/>
                <a:gridCol w="1197239"/>
                <a:gridCol w="957791"/>
                <a:gridCol w="3990796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September 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Change %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21,812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23,876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-2,064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October: 3 days missing; per reported day down 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Users per active day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607.1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642.2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-35.1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-5.5%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October: 3 days missing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Page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57,336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62,883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-5,547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October: 3 days missing; per reported day down 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Key events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942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1,045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-103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-9.9%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October: 3 days missing; per reported day down 3.4%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Order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+0.2 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+8.4%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October: 3 days missing; 26 days in 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49039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1F3A5F"/>
                </a:solidFill>
                <a:latin typeface="Calibri"/>
              </a:rPr>
              <a:t>Sessions against orders by week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11480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463040"/>
                <a:gridCol w="128016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Days counted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Order rate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 1 to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4 of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2,770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 8 to 14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 of 7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4,798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 15 to 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 of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5,004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 22 to 28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7 of 7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5,754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Oct 29 to 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2,203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B2F36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Source: the website's Google Analytics 4 daily figures. Website days follow the property's own time zone, store days follow UTC.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Users per active day is the average of each day's distinct users. Order rate is orders divided by sessions over the days both sources reported, not a Google Analytics conversion rate.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Per reported day divides a total by the days with traffic plus the days with no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October refunds total is 27.1% above September, but October is missing 2 days: per reported day it is up 31.5%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Net sales total was $40,249.02 in October, 1.8% below September ($40,966.11), but October is missing 2 days: per reported day, net sales are up 1.6% ($1,387.90 against $1,365.54).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Orders total was 607 in October, 3.1% above September (589), but October is missing 2 days: per reported day, orders are up 6.6% (20.93 against 19.63).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Average order value was $69.81 in October, down 3.6% from September ($72.39), and October is missing 2 days.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Refunds total was $2,125.90 in October, 27.1% above September ($1,672.94), but October is missing 2 days: per reported day, refunds are up 31.5% ($73.31 against $55.76).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The biggest move was Refunds, 27.1% above September in total, but October is missing 2 days: per reported day it is up 31.5%.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The best day was Oct 31 with net sales of $2,187.62.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2 days have no data (Oct 14, Oct 15), so the totals are understated.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Sessions total was 21,812 in October, 8.6% below September (23,876), but October is missing 3 days of website data: per reported day, sessions are down 2.1% (779.00 against 795.87).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Key events total was 942 in October, 9.9% below September (1,045), but October is missing 3 days of website data: per reported day, key events are down 3.4% (33.64 against 34.83).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Order rate was 2.7% in October, up 8.4% from September (2.5%), and October is missing 3 days of website data.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B2F36"/>
                </a:solidFill>
                <a:latin typeface="Calibri"/>
              </a:rPr>
              <a:t>3 days have no website data (Oct 3, Oct 4, Oct 5), so the website totals are understated.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Narrative written from the computed figures on the previous slides.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4415" cy="1005840"/>
          </a:xfrm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Data health: October is missing 2 days of store data and 3 days of website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3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2777"/>
                <a:gridCol w="1880409"/>
                <a:gridCol w="1880409"/>
                <a:gridCol w="1880409"/>
                <a:gridCol w="1880409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Store, October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Store, September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Website, October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Website, September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Days in the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Days with data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Days with nothing to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Days with no data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Stored daily figures 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B2F36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10944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2B2F36"/>
                </a:solidFill>
                <a:latin typeface="Calibri"/>
              </a:rPr>
              <a:t>Days with no data in October, store: Oct 14, Oct 15.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B2F36"/>
                </a:solidFill>
                <a:latin typeface="Calibri"/>
              </a:rPr>
              <a:t>Days with no data in October, website: Oct 3, Oct 4, Oct 5.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B2F36"/>
                </a:solidFill>
                <a:latin typeface="Calibri"/>
              </a:rPr>
              <a:t>Days with no data in September, store: none.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B2F36"/>
                </a:solidFill>
                <a:latin typeface="Calibri"/>
              </a:rPr>
              <a:t>Days with no data in September, website: none.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B2F36"/>
                </a:solidFill>
                <a:latin typeface="Calibri"/>
              </a:rPr>
              <a:t>A month with days missing is understated, so its changes are marked partial.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For each source, days with data, days with nothing to report and days with no data add up to the days in the month.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 day with nothing to report is one where a data pull ran and found none. A day with no data is one no data pull covered.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api-analytics-hub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performance report, October 2026</dc:title>
  <dc:subject/>
  <dc:creator>api-analytics-hub</dc:creator>
  <cp:keywords/>
  <dc:description>Written by a fixed template from the computed figures (no model key is set). No model was used.</dc:description>
  <cp:lastModifiedBy>api-analytics-hub</cp:lastModifiedBy>
  <cp:revision>1</cp:revision>
  <dcterms:created xsi:type="dcterms:W3CDTF">2026-10-25T13:53:20Z</dcterms:created>
  <dcterms:modified xsi:type="dcterms:W3CDTF">2026-10-25T13:53:20Z</dcterms:modified>
  <cp:category/>
</cp:coreProperties>
</file>