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9"/>
              <c:spPr>
                <a:solidFill>
                  <a:srgbClr val="1B7F8C"/>
                </a:solidFill>
                <a:ln>
                  <a:solidFill>
                    <a:srgbClr val="1B7F8C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1093.34</c:v>
                </c:pt>
                <c:pt idx="1">
                  <c:v>1874.35</c:v>
                </c:pt>
                <c:pt idx="2">
                  <c:v>1507.8</c:v>
                </c:pt>
                <c:pt idx="3">
                  <c:v>1036.88</c:v>
                </c:pt>
                <c:pt idx="4">
                  <c:v>840.98</c:v>
                </c:pt>
                <c:pt idx="5">
                  <c:v>0.0</c:v>
                </c:pt>
                <c:pt idx="6">
                  <c:v>1349.98</c:v>
                </c:pt>
                <c:pt idx="7">
                  <c:v>1122.7</c:v>
                </c:pt>
                <c:pt idx="8">
                  <c:v>2016.71</c:v>
                </c:pt>
                <c:pt idx="9">
                  <c:v>1280.17</c:v>
                </c:pt>
                <c:pt idx="10">
                  <c:v>1461.66</c:v>
                </c:pt>
                <c:pt idx="11">
                  <c:v>1448.81</c:v>
                </c:pt>
                <c:pt idx="12">
                  <c:v>1303.19</c:v>
                </c:pt>
                <c:pt idx="15">
                  <c:v>1735.85</c:v>
                </c:pt>
                <c:pt idx="16">
                  <c:v>1453.31</c:v>
                </c:pt>
                <c:pt idx="17">
                  <c:v>1264.43</c:v>
                </c:pt>
                <c:pt idx="18">
                  <c:v>1117.28</c:v>
                </c:pt>
                <c:pt idx="19">
                  <c:v>960.38</c:v>
                </c:pt>
                <c:pt idx="20">
                  <c:v>1645.78</c:v>
                </c:pt>
                <c:pt idx="21">
                  <c:v>1705.15</c:v>
                </c:pt>
                <c:pt idx="22">
                  <c:v>1879.87</c:v>
                </c:pt>
                <c:pt idx="23">
                  <c:v>1710.42</c:v>
                </c:pt>
                <c:pt idx="24">
                  <c:v>1753.51</c:v>
                </c:pt>
                <c:pt idx="25">
                  <c:v>1363.46</c:v>
                </c:pt>
                <c:pt idx="26">
                  <c:v>1454.7</c:v>
                </c:pt>
                <c:pt idx="27">
                  <c:v>1140.96</c:v>
                </c:pt>
                <c:pt idx="28">
                  <c:v>1045.38</c:v>
                </c:pt>
                <c:pt idx="29">
                  <c:v>1494.35</c:v>
                </c:pt>
                <c:pt idx="30">
                  <c:v>2187.62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6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dPt>
            <c:idx val="21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1250.0</c:v>
                </c:pt>
                <c:pt idx="1">
                  <c:v>1390.24</c:v>
                </c:pt>
                <c:pt idx="2">
                  <c:v>1465.96</c:v>
                </c:pt>
                <c:pt idx="3">
                  <c:v>1881.42</c:v>
                </c:pt>
                <c:pt idx="4">
                  <c:v>1838.65</c:v>
                </c:pt>
                <c:pt idx="5">
                  <c:v>1981.97</c:v>
                </c:pt>
                <c:pt idx="6">
                  <c:v>0.0</c:v>
                </c:pt>
                <c:pt idx="7">
                  <c:v>1212.26</c:v>
                </c:pt>
                <c:pt idx="8">
                  <c:v>1047.71</c:v>
                </c:pt>
                <c:pt idx="9">
                  <c:v>1107.8</c:v>
                </c:pt>
                <c:pt idx="10">
                  <c:v>1454.55</c:v>
                </c:pt>
                <c:pt idx="11">
                  <c:v>1891.53</c:v>
                </c:pt>
                <c:pt idx="12">
                  <c:v>2008.74</c:v>
                </c:pt>
                <c:pt idx="13">
                  <c:v>1415.63</c:v>
                </c:pt>
                <c:pt idx="14">
                  <c:v>1253.27</c:v>
                </c:pt>
                <c:pt idx="15">
                  <c:v>1094.08</c:v>
                </c:pt>
                <c:pt idx="16">
                  <c:v>1592.91</c:v>
                </c:pt>
                <c:pt idx="17">
                  <c:v>1839.95</c:v>
                </c:pt>
                <c:pt idx="18">
                  <c:v>1648.79</c:v>
                </c:pt>
                <c:pt idx="19">
                  <c:v>1099.31</c:v>
                </c:pt>
                <c:pt idx="20">
                  <c:v>1295.03</c:v>
                </c:pt>
                <c:pt idx="21">
                  <c:v>0.0</c:v>
                </c:pt>
                <c:pt idx="22">
                  <c:v>1097.83</c:v>
                </c:pt>
                <c:pt idx="23">
                  <c:v>1651.48</c:v>
                </c:pt>
                <c:pt idx="24">
                  <c:v>2077.77</c:v>
                </c:pt>
                <c:pt idx="25">
                  <c:v>1355.29</c:v>
                </c:pt>
                <c:pt idx="26">
                  <c:v>1790.66</c:v>
                </c:pt>
                <c:pt idx="27">
                  <c:v>1082.55</c:v>
                </c:pt>
                <c:pt idx="28">
                  <c:v>1139.63</c:v>
                </c:pt>
                <c:pt idx="29">
                  <c:v>1001.1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13">
                  <c:v>0.0</c:v>
                </c:pt>
                <c:pt idx="1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Net sales ($)</a:t>
                </a:r>
              </a:p>
            </c:rich>
          </c:tx>
          <c:layout/>
          <c:overlay val="0"/>
        </c:title>
        <c:numFmt formatCode="&quot;$&quot;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626.0</c:v>
                </c:pt>
                <c:pt idx="1">
                  <c:v>954.0</c:v>
                </c:pt>
                <c:pt idx="5">
                  <c:v>521.0</c:v>
                </c:pt>
                <c:pt idx="6">
                  <c:v>669.0</c:v>
                </c:pt>
                <c:pt idx="7">
                  <c:v>627.0</c:v>
                </c:pt>
                <c:pt idx="8">
                  <c:v>1348.0</c:v>
                </c:pt>
                <c:pt idx="9">
                  <c:v>611.0</c:v>
                </c:pt>
                <c:pt idx="10">
                  <c:v>635.0</c:v>
                </c:pt>
                <c:pt idx="11">
                  <c:v>785.0</c:v>
                </c:pt>
                <c:pt idx="12">
                  <c:v>792.0</c:v>
                </c:pt>
                <c:pt idx="13">
                  <c:v>506.0</c:v>
                </c:pt>
                <c:pt idx="14">
                  <c:v>777.0</c:v>
                </c:pt>
                <c:pt idx="15">
                  <c:v>876.0</c:v>
                </c:pt>
                <c:pt idx="16">
                  <c:v>757.0</c:v>
                </c:pt>
                <c:pt idx="17">
                  <c:v>887.0</c:v>
                </c:pt>
                <c:pt idx="18">
                  <c:v>756.0</c:v>
                </c:pt>
                <c:pt idx="19">
                  <c:v>676.0</c:v>
                </c:pt>
                <c:pt idx="20">
                  <c:v>1052.0</c:v>
                </c:pt>
                <c:pt idx="21">
                  <c:v>668.0</c:v>
                </c:pt>
                <c:pt idx="22">
                  <c:v>890.0</c:v>
                </c:pt>
                <c:pt idx="23">
                  <c:v>689.0</c:v>
                </c:pt>
                <c:pt idx="24">
                  <c:v>1037.0</c:v>
                </c:pt>
                <c:pt idx="25">
                  <c:v>850.0</c:v>
                </c:pt>
                <c:pt idx="26">
                  <c:v>850.0</c:v>
                </c:pt>
                <c:pt idx="27">
                  <c:v>770.0</c:v>
                </c:pt>
                <c:pt idx="28">
                  <c:v>504.0</c:v>
                </c:pt>
                <c:pt idx="29">
                  <c:v>686.0</c:v>
                </c:pt>
                <c:pt idx="30">
                  <c:v>1013.0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14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514.0</c:v>
                </c:pt>
                <c:pt idx="1">
                  <c:v>641.0</c:v>
                </c:pt>
                <c:pt idx="2">
                  <c:v>579.0</c:v>
                </c:pt>
                <c:pt idx="3">
                  <c:v>1078.0</c:v>
                </c:pt>
                <c:pt idx="4">
                  <c:v>1136.0</c:v>
                </c:pt>
                <c:pt idx="5">
                  <c:v>1283.0</c:v>
                </c:pt>
                <c:pt idx="6">
                  <c:v>512.0</c:v>
                </c:pt>
                <c:pt idx="7">
                  <c:v>892.0</c:v>
                </c:pt>
                <c:pt idx="8">
                  <c:v>643.0</c:v>
                </c:pt>
                <c:pt idx="9">
                  <c:v>776.0</c:v>
                </c:pt>
                <c:pt idx="10">
                  <c:v>724.0</c:v>
                </c:pt>
                <c:pt idx="11">
                  <c:v>1138.0</c:v>
                </c:pt>
                <c:pt idx="12">
                  <c:v>1237.0</c:v>
                </c:pt>
                <c:pt idx="13">
                  <c:v>886.0</c:v>
                </c:pt>
                <c:pt idx="14">
                  <c:v>0.0</c:v>
                </c:pt>
                <c:pt idx="15">
                  <c:v>714.0</c:v>
                </c:pt>
                <c:pt idx="16">
                  <c:v>871.0</c:v>
                </c:pt>
                <c:pt idx="17">
                  <c:v>1045.0</c:v>
                </c:pt>
                <c:pt idx="18">
                  <c:v>928.0</c:v>
                </c:pt>
                <c:pt idx="19">
                  <c:v>768.0</c:v>
                </c:pt>
                <c:pt idx="20">
                  <c:v>843.0</c:v>
                </c:pt>
                <c:pt idx="21">
                  <c:v>605.0</c:v>
                </c:pt>
                <c:pt idx="22">
                  <c:v>731.0</c:v>
                </c:pt>
                <c:pt idx="23">
                  <c:v>820.0</c:v>
                </c:pt>
                <c:pt idx="24">
                  <c:v>889.0</c:v>
                </c:pt>
                <c:pt idx="25">
                  <c:v>916.0</c:v>
                </c:pt>
                <c:pt idx="26">
                  <c:v>983.0</c:v>
                </c:pt>
                <c:pt idx="27">
                  <c:v>561.0</c:v>
                </c:pt>
                <c:pt idx="28">
                  <c:v>590.0</c:v>
                </c:pt>
                <c:pt idx="29">
                  <c:v>573.0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Sessions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9"/>
              <c:spPr>
                <a:solidFill>
                  <a:srgbClr val="1B7F8C"/>
                </a:solidFill>
                <a:ln>
                  <a:solidFill>
                    <a:srgbClr val="1B7F8C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19.0</c:v>
                </c:pt>
                <c:pt idx="1">
                  <c:v>27.0</c:v>
                </c:pt>
                <c:pt idx="2">
                  <c:v>21.0</c:v>
                </c:pt>
                <c:pt idx="3">
                  <c:v>21.0</c:v>
                </c:pt>
                <c:pt idx="4">
                  <c:v>16.0</c:v>
                </c:pt>
                <c:pt idx="5">
                  <c:v>0.0</c:v>
                </c:pt>
                <c:pt idx="6">
                  <c:v>21.0</c:v>
                </c:pt>
                <c:pt idx="7">
                  <c:v>20.0</c:v>
                </c:pt>
                <c:pt idx="8">
                  <c:v>30.0</c:v>
                </c:pt>
                <c:pt idx="9">
                  <c:v>21.0</c:v>
                </c:pt>
                <c:pt idx="10">
                  <c:v>21.0</c:v>
                </c:pt>
                <c:pt idx="11">
                  <c:v>22.0</c:v>
                </c:pt>
                <c:pt idx="12">
                  <c:v>21.0</c:v>
                </c:pt>
                <c:pt idx="15">
                  <c:v>26.0</c:v>
                </c:pt>
                <c:pt idx="16">
                  <c:v>21.0</c:v>
                </c:pt>
                <c:pt idx="17">
                  <c:v>20.0</c:v>
                </c:pt>
                <c:pt idx="18">
                  <c:v>18.0</c:v>
                </c:pt>
                <c:pt idx="19">
                  <c:v>15.0</c:v>
                </c:pt>
                <c:pt idx="20">
                  <c:v>23.0</c:v>
                </c:pt>
                <c:pt idx="21">
                  <c:v>22.0</c:v>
                </c:pt>
                <c:pt idx="22">
                  <c:v>27.0</c:v>
                </c:pt>
                <c:pt idx="23">
                  <c:v>24.0</c:v>
                </c:pt>
                <c:pt idx="24">
                  <c:v>27.0</c:v>
                </c:pt>
                <c:pt idx="25">
                  <c:v>21.0</c:v>
                </c:pt>
                <c:pt idx="26">
                  <c:v>20.0</c:v>
                </c:pt>
                <c:pt idx="27">
                  <c:v>17.0</c:v>
                </c:pt>
                <c:pt idx="28">
                  <c:v>16.0</c:v>
                </c:pt>
                <c:pt idx="29">
                  <c:v>20.0</c:v>
                </c:pt>
                <c:pt idx="30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6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dPt>
            <c:idx val="21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15.0</c:v>
                </c:pt>
                <c:pt idx="1">
                  <c:v>18.0</c:v>
                </c:pt>
                <c:pt idx="2">
                  <c:v>18.0</c:v>
                </c:pt>
                <c:pt idx="3">
                  <c:v>28.0</c:v>
                </c:pt>
                <c:pt idx="4">
                  <c:v>28.0</c:v>
                </c:pt>
                <c:pt idx="5">
                  <c:v>29.0</c:v>
                </c:pt>
                <c:pt idx="6">
                  <c:v>0.0</c:v>
                </c:pt>
                <c:pt idx="7">
                  <c:v>20.0</c:v>
                </c:pt>
                <c:pt idx="8">
                  <c:v>14.0</c:v>
                </c:pt>
                <c:pt idx="9">
                  <c:v>16.0</c:v>
                </c:pt>
                <c:pt idx="10">
                  <c:v>22.0</c:v>
                </c:pt>
                <c:pt idx="11">
                  <c:v>25.0</c:v>
                </c:pt>
                <c:pt idx="12">
                  <c:v>29.0</c:v>
                </c:pt>
                <c:pt idx="13">
                  <c:v>21.0</c:v>
                </c:pt>
                <c:pt idx="14">
                  <c:v>16.0</c:v>
                </c:pt>
                <c:pt idx="15">
                  <c:v>16.0</c:v>
                </c:pt>
                <c:pt idx="16">
                  <c:v>22.0</c:v>
                </c:pt>
                <c:pt idx="17">
                  <c:v>29.0</c:v>
                </c:pt>
                <c:pt idx="18">
                  <c:v>24.0</c:v>
                </c:pt>
                <c:pt idx="19">
                  <c:v>18.0</c:v>
                </c:pt>
                <c:pt idx="20">
                  <c:v>19.0</c:v>
                </c:pt>
                <c:pt idx="21">
                  <c:v>0.0</c:v>
                </c:pt>
                <c:pt idx="22">
                  <c:v>17.0</c:v>
                </c:pt>
                <c:pt idx="23">
                  <c:v>22.0</c:v>
                </c:pt>
                <c:pt idx="24">
                  <c:v>29.0</c:v>
                </c:pt>
                <c:pt idx="25">
                  <c:v>21.0</c:v>
                </c:pt>
                <c:pt idx="26">
                  <c:v>24.0</c:v>
                </c:pt>
                <c:pt idx="27">
                  <c:v>18.0</c:v>
                </c:pt>
                <c:pt idx="28">
                  <c:v>17.0</c:v>
                </c:pt>
                <c:pt idx="29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13">
                  <c:v>0.0</c:v>
                </c:pt>
                <c:pt idx="1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Orders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184.06</c:v>
                </c:pt>
                <c:pt idx="1">
                  <c:v>225.74</c:v>
                </c:pt>
                <c:pt idx="2">
                  <c:v>188.37</c:v>
                </c:pt>
                <c:pt idx="3">
                  <c:v>266.75</c:v>
                </c:pt>
                <c:pt idx="4">
                  <c:v>174.21</c:v>
                </c:pt>
                <c:pt idx="5">
                  <c:v>202.19</c:v>
                </c:pt>
                <c:pt idx="6">
                  <c:v>145.6</c:v>
                </c:pt>
                <c:pt idx="7">
                  <c:v>253.66</c:v>
                </c:pt>
                <c:pt idx="8">
                  <c:v>341.31</c:v>
                </c:pt>
                <c:pt idx="9">
                  <c:v>235.47</c:v>
                </c:pt>
                <c:pt idx="10">
                  <c:v>164.79</c:v>
                </c:pt>
                <c:pt idx="11">
                  <c:v>164.98</c:v>
                </c:pt>
                <c:pt idx="12">
                  <c:v>177.78</c:v>
                </c:pt>
                <c:pt idx="13">
                  <c:v>208.13</c:v>
                </c:pt>
                <c:pt idx="14">
                  <c:v>265.99</c:v>
                </c:pt>
                <c:pt idx="15">
                  <c:v>229.74</c:v>
                </c:pt>
                <c:pt idx="16">
                  <c:v>188.33</c:v>
                </c:pt>
                <c:pt idx="17">
                  <c:v>300.2</c:v>
                </c:pt>
                <c:pt idx="18">
                  <c:v>170.08</c:v>
                </c:pt>
                <c:pt idx="21">
                  <c:v>263.24</c:v>
                </c:pt>
                <c:pt idx="22">
                  <c:v>256.56</c:v>
                </c:pt>
                <c:pt idx="23">
                  <c:v>228.0</c:v>
                </c:pt>
                <c:pt idx="24">
                  <c:v>180.49</c:v>
                </c:pt>
                <c:pt idx="25">
                  <c:v>148.45</c:v>
                </c:pt>
                <c:pt idx="26">
                  <c:v>208.5</c:v>
                </c:pt>
                <c:pt idx="27">
                  <c:v>205.61</c:v>
                </c:pt>
                <c:pt idx="28">
                  <c:v>184.05</c:v>
                </c:pt>
                <c:pt idx="29">
                  <c:v>229.56</c:v>
                </c:pt>
                <c:pt idx="30">
                  <c:v>223.21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11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169.72</c:v>
                </c:pt>
                <c:pt idx="1">
                  <c:v>211.91</c:v>
                </c:pt>
                <c:pt idx="2">
                  <c:v>247.2</c:v>
                </c:pt>
                <c:pt idx="3">
                  <c:v>146.33</c:v>
                </c:pt>
                <c:pt idx="4">
                  <c:v>182.47</c:v>
                </c:pt>
                <c:pt idx="5">
                  <c:v>159.2</c:v>
                </c:pt>
                <c:pt idx="6">
                  <c:v>168.92</c:v>
                </c:pt>
                <c:pt idx="7">
                  <c:v>122.38</c:v>
                </c:pt>
                <c:pt idx="8">
                  <c:v>169.46</c:v>
                </c:pt>
                <c:pt idx="9">
                  <c:v>212.1</c:v>
                </c:pt>
                <c:pt idx="10">
                  <c:v>300.2</c:v>
                </c:pt>
                <c:pt idx="11">
                  <c:v>0.0</c:v>
                </c:pt>
                <c:pt idx="12">
                  <c:v>301.71</c:v>
                </c:pt>
                <c:pt idx="13">
                  <c:v>230.09</c:v>
                </c:pt>
                <c:pt idx="14">
                  <c:v>240.83</c:v>
                </c:pt>
                <c:pt idx="15">
                  <c:v>200.65</c:v>
                </c:pt>
                <c:pt idx="16">
                  <c:v>236.09</c:v>
                </c:pt>
                <c:pt idx="17">
                  <c:v>282.17</c:v>
                </c:pt>
                <c:pt idx="18">
                  <c:v>207.19</c:v>
                </c:pt>
                <c:pt idx="19">
                  <c:v>291.66</c:v>
                </c:pt>
                <c:pt idx="20">
                  <c:v>149.83</c:v>
                </c:pt>
                <c:pt idx="21">
                  <c:v>161.01</c:v>
                </c:pt>
                <c:pt idx="22">
                  <c:v>193.81</c:v>
                </c:pt>
                <c:pt idx="23">
                  <c:v>123.7</c:v>
                </c:pt>
                <c:pt idx="24">
                  <c:v>194.93</c:v>
                </c:pt>
                <c:pt idx="25">
                  <c:v>309.92</c:v>
                </c:pt>
                <c:pt idx="26">
                  <c:v>230.39</c:v>
                </c:pt>
                <c:pt idx="27">
                  <c:v>244.83</c:v>
                </c:pt>
                <c:pt idx="28">
                  <c:v>201.96</c:v>
                </c:pt>
                <c:pt idx="29">
                  <c:v>197.6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19">
                  <c:v>0.0</c:v>
                </c:pt>
                <c:pt idx="2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Ad spend (EUR)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285.0</c:v>
                </c:pt>
                <c:pt idx="1">
                  <c:v>373.0</c:v>
                </c:pt>
                <c:pt idx="2">
                  <c:v>344.0</c:v>
                </c:pt>
                <c:pt idx="3">
                  <c:v>367.0</c:v>
                </c:pt>
                <c:pt idx="4">
                  <c:v>177.0</c:v>
                </c:pt>
                <c:pt idx="5">
                  <c:v>277.0</c:v>
                </c:pt>
                <c:pt idx="6">
                  <c:v>160.0</c:v>
                </c:pt>
                <c:pt idx="7">
                  <c:v>230.0</c:v>
                </c:pt>
                <c:pt idx="8">
                  <c:v>341.0</c:v>
                </c:pt>
                <c:pt idx="9">
                  <c:v>344.0</c:v>
                </c:pt>
                <c:pt idx="10">
                  <c:v>223.0</c:v>
                </c:pt>
                <c:pt idx="11">
                  <c:v>207.0</c:v>
                </c:pt>
                <c:pt idx="12">
                  <c:v>224.0</c:v>
                </c:pt>
                <c:pt idx="13">
                  <c:v>295.0</c:v>
                </c:pt>
                <c:pt idx="14">
                  <c:v>469.0</c:v>
                </c:pt>
                <c:pt idx="15">
                  <c:v>198.0</c:v>
                </c:pt>
                <c:pt idx="16">
                  <c:v>152.0</c:v>
                </c:pt>
                <c:pt idx="17">
                  <c:v>271.0</c:v>
                </c:pt>
                <c:pt idx="18">
                  <c:v>178.0</c:v>
                </c:pt>
                <c:pt idx="21">
                  <c:v>342.0</c:v>
                </c:pt>
                <c:pt idx="22">
                  <c:v>194.0</c:v>
                </c:pt>
                <c:pt idx="23">
                  <c:v>386.0</c:v>
                </c:pt>
                <c:pt idx="24">
                  <c:v>175.0</c:v>
                </c:pt>
                <c:pt idx="25">
                  <c:v>149.0</c:v>
                </c:pt>
                <c:pt idx="26">
                  <c:v>312.0</c:v>
                </c:pt>
                <c:pt idx="27">
                  <c:v>166.0</c:v>
                </c:pt>
                <c:pt idx="28">
                  <c:v>168.0</c:v>
                </c:pt>
                <c:pt idx="29">
                  <c:v>285.0</c:v>
                </c:pt>
                <c:pt idx="30">
                  <c:v>286.0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11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126.0</c:v>
                </c:pt>
                <c:pt idx="1">
                  <c:v>250.0</c:v>
                </c:pt>
                <c:pt idx="2">
                  <c:v>338.0</c:v>
                </c:pt>
                <c:pt idx="3">
                  <c:v>177.0</c:v>
                </c:pt>
                <c:pt idx="4">
                  <c:v>221.0</c:v>
                </c:pt>
                <c:pt idx="5">
                  <c:v>209.0</c:v>
                </c:pt>
                <c:pt idx="6">
                  <c:v>267.0</c:v>
                </c:pt>
                <c:pt idx="7">
                  <c:v>189.0</c:v>
                </c:pt>
                <c:pt idx="8">
                  <c:v>190.0</c:v>
                </c:pt>
                <c:pt idx="9">
                  <c:v>206.0</c:v>
                </c:pt>
                <c:pt idx="10">
                  <c:v>425.0</c:v>
                </c:pt>
                <c:pt idx="11">
                  <c:v>0.0</c:v>
                </c:pt>
                <c:pt idx="12">
                  <c:v>472.0</c:v>
                </c:pt>
                <c:pt idx="13">
                  <c:v>366.0</c:v>
                </c:pt>
                <c:pt idx="14">
                  <c:v>346.0</c:v>
                </c:pt>
                <c:pt idx="15">
                  <c:v>213.0</c:v>
                </c:pt>
                <c:pt idx="16">
                  <c:v>321.0</c:v>
                </c:pt>
                <c:pt idx="17">
                  <c:v>353.0</c:v>
                </c:pt>
                <c:pt idx="18">
                  <c:v>343.0</c:v>
                </c:pt>
                <c:pt idx="19">
                  <c:v>587.0</c:v>
                </c:pt>
                <c:pt idx="20">
                  <c:v>287.0</c:v>
                </c:pt>
                <c:pt idx="21">
                  <c:v>178.0</c:v>
                </c:pt>
                <c:pt idx="22">
                  <c:v>307.0</c:v>
                </c:pt>
                <c:pt idx="23">
                  <c:v>159.0</c:v>
                </c:pt>
                <c:pt idx="24">
                  <c:v>367.0</c:v>
                </c:pt>
                <c:pt idx="25">
                  <c:v>305.0</c:v>
                </c:pt>
                <c:pt idx="26">
                  <c:v>284.0</c:v>
                </c:pt>
                <c:pt idx="27">
                  <c:v>218.0</c:v>
                </c:pt>
                <c:pt idx="28">
                  <c:v>365.0</c:v>
                </c:pt>
                <c:pt idx="29">
                  <c:v>303.0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19">
                  <c:v>0.0</c:v>
                </c:pt>
                <c:pt idx="2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Clicks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131.0</c:v>
                </c:pt>
                <c:pt idx="1">
                  <c:v>154.0</c:v>
                </c:pt>
                <c:pt idx="2">
                  <c:v>122.0</c:v>
                </c:pt>
                <c:pt idx="3">
                  <c:v>113.0</c:v>
                </c:pt>
                <c:pt idx="4">
                  <c:v>168.0</c:v>
                </c:pt>
                <c:pt idx="5">
                  <c:v>101.0</c:v>
                </c:pt>
                <c:pt idx="6">
                  <c:v>182.0</c:v>
                </c:pt>
                <c:pt idx="7">
                  <c:v>101.0</c:v>
                </c:pt>
                <c:pt idx="10">
                  <c:v>141.0</c:v>
                </c:pt>
                <c:pt idx="11">
                  <c:v>146.0</c:v>
                </c:pt>
                <c:pt idx="12">
                  <c:v>188.0</c:v>
                </c:pt>
                <c:pt idx="13">
                  <c:v>183.0</c:v>
                </c:pt>
                <c:pt idx="14">
                  <c:v>135.0</c:v>
                </c:pt>
                <c:pt idx="15">
                  <c:v>176.0</c:v>
                </c:pt>
                <c:pt idx="16">
                  <c:v>123.0</c:v>
                </c:pt>
                <c:pt idx="17">
                  <c:v>129.0</c:v>
                </c:pt>
                <c:pt idx="18">
                  <c:v>187.0</c:v>
                </c:pt>
                <c:pt idx="19">
                  <c:v>141.0</c:v>
                </c:pt>
                <c:pt idx="20">
                  <c:v>137.0</c:v>
                </c:pt>
                <c:pt idx="21">
                  <c:v>153.0</c:v>
                </c:pt>
                <c:pt idx="22">
                  <c:v>142.0</c:v>
                </c:pt>
                <c:pt idx="23">
                  <c:v>129.0</c:v>
                </c:pt>
                <c:pt idx="24">
                  <c:v>108.0</c:v>
                </c:pt>
                <c:pt idx="25">
                  <c:v>137.0</c:v>
                </c:pt>
                <c:pt idx="26">
                  <c:v>143.0</c:v>
                </c:pt>
                <c:pt idx="27">
                  <c:v>117.0</c:v>
                </c:pt>
                <c:pt idx="28">
                  <c:v>171.0</c:v>
                </c:pt>
                <c:pt idx="29">
                  <c:v>150.0</c:v>
                </c:pt>
                <c:pt idx="30">
                  <c:v>95.0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20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153.0</c:v>
                </c:pt>
                <c:pt idx="1">
                  <c:v>151.0</c:v>
                </c:pt>
                <c:pt idx="2">
                  <c:v>126.0</c:v>
                </c:pt>
                <c:pt idx="3">
                  <c:v>90.0</c:v>
                </c:pt>
                <c:pt idx="4">
                  <c:v>113.0</c:v>
                </c:pt>
                <c:pt idx="5">
                  <c:v>79.0</c:v>
                </c:pt>
                <c:pt idx="6">
                  <c:v>146.0</c:v>
                </c:pt>
                <c:pt idx="7">
                  <c:v>119.0</c:v>
                </c:pt>
                <c:pt idx="8">
                  <c:v>156.0</c:v>
                </c:pt>
                <c:pt idx="9">
                  <c:v>92.0</c:v>
                </c:pt>
                <c:pt idx="10">
                  <c:v>131.0</c:v>
                </c:pt>
                <c:pt idx="11">
                  <c:v>108.0</c:v>
                </c:pt>
                <c:pt idx="12">
                  <c:v>83.0</c:v>
                </c:pt>
                <c:pt idx="13">
                  <c:v>114.0</c:v>
                </c:pt>
                <c:pt idx="14">
                  <c:v>91.0</c:v>
                </c:pt>
                <c:pt idx="15">
                  <c:v>93.0</c:v>
                </c:pt>
                <c:pt idx="16">
                  <c:v>94.0</c:v>
                </c:pt>
                <c:pt idx="17">
                  <c:v>91.0</c:v>
                </c:pt>
                <c:pt idx="18">
                  <c:v>87.0</c:v>
                </c:pt>
                <c:pt idx="19">
                  <c:v>93.0</c:v>
                </c:pt>
                <c:pt idx="20">
                  <c:v>0.0</c:v>
                </c:pt>
                <c:pt idx="21">
                  <c:v>119.0</c:v>
                </c:pt>
                <c:pt idx="22">
                  <c:v>131.0</c:v>
                </c:pt>
                <c:pt idx="23">
                  <c:v>169.0</c:v>
                </c:pt>
                <c:pt idx="24">
                  <c:v>125.0</c:v>
                </c:pt>
                <c:pt idx="25">
                  <c:v>128.0</c:v>
                </c:pt>
                <c:pt idx="26">
                  <c:v>99.0</c:v>
                </c:pt>
                <c:pt idx="27">
                  <c:v>139.0</c:v>
                </c:pt>
                <c:pt idx="28">
                  <c:v>155.0</c:v>
                </c:pt>
                <c:pt idx="29">
                  <c:v>158.0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8">
                  <c:v>0.0</c:v>
                </c:pt>
                <c:pt idx="9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Search clicks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3047.0</c:v>
                </c:pt>
                <c:pt idx="1">
                  <c:v>3784.0</c:v>
                </c:pt>
                <c:pt idx="2">
                  <c:v>2421.0</c:v>
                </c:pt>
                <c:pt idx="3">
                  <c:v>2294.0</c:v>
                </c:pt>
                <c:pt idx="4">
                  <c:v>4406.0</c:v>
                </c:pt>
                <c:pt idx="5">
                  <c:v>2900.0</c:v>
                </c:pt>
                <c:pt idx="6">
                  <c:v>3863.0</c:v>
                </c:pt>
                <c:pt idx="7">
                  <c:v>1877.0</c:v>
                </c:pt>
                <c:pt idx="10">
                  <c:v>3492.0</c:v>
                </c:pt>
                <c:pt idx="11">
                  <c:v>3578.0</c:v>
                </c:pt>
                <c:pt idx="12">
                  <c:v>3606.0</c:v>
                </c:pt>
                <c:pt idx="13">
                  <c:v>4237.0</c:v>
                </c:pt>
                <c:pt idx="14">
                  <c:v>3117.0</c:v>
                </c:pt>
                <c:pt idx="15">
                  <c:v>3998.0</c:v>
                </c:pt>
                <c:pt idx="16">
                  <c:v>2960.0</c:v>
                </c:pt>
                <c:pt idx="17">
                  <c:v>2634.0</c:v>
                </c:pt>
                <c:pt idx="18">
                  <c:v>5454.0</c:v>
                </c:pt>
                <c:pt idx="19">
                  <c:v>2826.0</c:v>
                </c:pt>
                <c:pt idx="20">
                  <c:v>3561.0</c:v>
                </c:pt>
                <c:pt idx="21">
                  <c:v>3768.0</c:v>
                </c:pt>
                <c:pt idx="22">
                  <c:v>3916.0</c:v>
                </c:pt>
                <c:pt idx="23">
                  <c:v>2392.0</c:v>
                </c:pt>
                <c:pt idx="24">
                  <c:v>3046.0</c:v>
                </c:pt>
                <c:pt idx="25">
                  <c:v>3323.0</c:v>
                </c:pt>
                <c:pt idx="26">
                  <c:v>4206.0</c:v>
                </c:pt>
                <c:pt idx="27">
                  <c:v>2337.0</c:v>
                </c:pt>
                <c:pt idx="28">
                  <c:v>4323.0</c:v>
                </c:pt>
                <c:pt idx="29">
                  <c:v>2844.0</c:v>
                </c:pt>
                <c:pt idx="30">
                  <c:v>2486.0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20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3642.0</c:v>
                </c:pt>
                <c:pt idx="1">
                  <c:v>3701.0</c:v>
                </c:pt>
                <c:pt idx="2">
                  <c:v>2454.0</c:v>
                </c:pt>
                <c:pt idx="3">
                  <c:v>1785.0</c:v>
                </c:pt>
                <c:pt idx="4">
                  <c:v>2794.0</c:v>
                </c:pt>
                <c:pt idx="5">
                  <c:v>2363.0</c:v>
                </c:pt>
                <c:pt idx="6">
                  <c:v>4297.0</c:v>
                </c:pt>
                <c:pt idx="7">
                  <c:v>2701.0</c:v>
                </c:pt>
                <c:pt idx="8">
                  <c:v>3626.0</c:v>
                </c:pt>
                <c:pt idx="9">
                  <c:v>2243.0</c:v>
                </c:pt>
                <c:pt idx="10">
                  <c:v>2997.0</c:v>
                </c:pt>
                <c:pt idx="11">
                  <c:v>2658.0</c:v>
                </c:pt>
                <c:pt idx="12">
                  <c:v>2378.0</c:v>
                </c:pt>
                <c:pt idx="13">
                  <c:v>3218.0</c:v>
                </c:pt>
                <c:pt idx="14">
                  <c:v>2676.0</c:v>
                </c:pt>
                <c:pt idx="15">
                  <c:v>1851.0</c:v>
                </c:pt>
                <c:pt idx="16">
                  <c:v>1751.0</c:v>
                </c:pt>
                <c:pt idx="17">
                  <c:v>2552.0</c:v>
                </c:pt>
                <c:pt idx="18">
                  <c:v>2569.0</c:v>
                </c:pt>
                <c:pt idx="19">
                  <c:v>2582.0</c:v>
                </c:pt>
                <c:pt idx="20">
                  <c:v>0.0</c:v>
                </c:pt>
                <c:pt idx="21">
                  <c:v>3471.0</c:v>
                </c:pt>
                <c:pt idx="22">
                  <c:v>3086.0</c:v>
                </c:pt>
                <c:pt idx="23">
                  <c:v>3156.0</c:v>
                </c:pt>
                <c:pt idx="24">
                  <c:v>2937.0</c:v>
                </c:pt>
                <c:pt idx="25">
                  <c:v>3078.0</c:v>
                </c:pt>
                <c:pt idx="26">
                  <c:v>1855.0</c:v>
                </c:pt>
                <c:pt idx="27">
                  <c:v>3442.0</c:v>
                </c:pt>
                <c:pt idx="28">
                  <c:v>3608.0</c:v>
                </c:pt>
                <c:pt idx="29">
                  <c:v>3821.0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8">
                  <c:v>0.0</c:v>
                </c:pt>
                <c:pt idx="9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Search impressions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11680"/>
            <a:ext cx="11094415" cy="1280160"/>
          </a:xfrm>
        </p:spPr>
        <p:txBody>
          <a:bodyPr/>
          <a:lstStyle/>
          <a:p>
            <a:pPr algn="l"/>
            <a:r>
              <a:rPr sz="4400" b="1" i="0">
                <a:solidFill>
                  <a:srgbClr val="1F3A5F"/>
                </a:solidFill>
                <a:latin typeface="Calibri"/>
              </a:rPr>
              <a:t>Monthly performance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383280"/>
            <a:ext cx="11094415" cy="914400"/>
          </a:xfrm>
        </p:spPr>
        <p:txBody>
          <a:bodyPr/>
          <a:lstStyle/>
          <a:p>
            <a:pPr algn="l"/>
            <a:r>
              <a:rPr sz="2400" b="0" i="0">
                <a:solidFill>
                  <a:srgbClr val="1B7F8C"/>
                </a:solidFill>
                <a:latin typeface="Calibri"/>
              </a:rPr>
              <a:t>Example Outfitters,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5B6470"/>
                </a:solidFill>
                <a:latin typeface="Calibri"/>
              </a:rPr>
              <a:t>Sample report: invented figures. The website, ad and search sides ran against stand-in servers, not Google or Meta.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net sales total is 1.8% below September, but October is missing 2 days: per reported day it is up 1.6%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94412" cy="420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4684"/>
                <a:gridCol w="1305225"/>
                <a:gridCol w="1305225"/>
                <a:gridCol w="1142072"/>
                <a:gridCol w="815765"/>
                <a:gridCol w="4731441"/>
              </a:tblGrid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589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6.6%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Gross sales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$42,374.92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$42,639.05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-$264.13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-0.6%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2.8%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Refunds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$2,125.90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$1,672.94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+$452.96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+27.1%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31.5%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Net sales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$40,249.02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$40,966.11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-$717.09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-1.8%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1.6%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Average order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$69.81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$72.39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-$2.58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Buyers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+7.1%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Ad spend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6,215.05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6,088.26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+EUR 126.79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+2.1%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2 days missing; per reported day up 5.6%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Return on ad spend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2.89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3.40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-0.51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-15.1%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2 days missing; on 27 of 29 days; last 6 days provisional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Search clicks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4,103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3,433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+670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+19.5%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2 days missing; per reported day up 23.6%; last 2 days provisional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Average position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-0.8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2 days missing; last 2 days provisional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the store's daily order records.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Ad rows: Meta, in the ad account's currency (EUR), purchases in a 7 day click window. Search rows: Search Console, Pacific time, a lower position is nearer the top.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Change % is the change over September's figure, n/a when that was zero. Buyers per active day is the average of each day's distinct buyers, over days with orders. Average order value is gross sales divided by orders.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Per reported day divides a total by the days with orders plus the days with no orders, so months with different numbers of days with data can be compared.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Net sales by day in October</a:t>
            </a:r>
          </a:p>
        </p:txBody>
      </p:sp>
      <p:graphicFrame>
        <p:nvGraphicFramePr>
          <p:cNvPr id="3" name="Chart 2" descr="Line chart of net sales for each day of October 2026, with September 2026 as a grey line"/>
          <p:cNvGraphicFramePr>
            <a:graphicFrameLocks noGrp="1"/>
          </p:cNvGraphicFramePr>
          <p:nvPr/>
        </p:nvGraphicFramePr>
        <p:xfrm>
          <a:off x="548640" y="1371600"/>
          <a:ext cx="1109441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across, net sales in dollars up.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dot on the zero line is a day with no orders, on either line.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break in the line with an X on the zero line is a day with no data (Oct 14, Oct 15). 29 of 31 days are plotted.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Sessions and orders by day in October</a:t>
            </a:r>
          </a:p>
        </p:txBody>
      </p:sp>
      <p:graphicFrame>
        <p:nvGraphicFramePr>
          <p:cNvPr id="3" name="Chart 2" descr="Line chart of website sessions for each day of October 2026, with September 2026 as a grey line"/>
          <p:cNvGraphicFramePr>
            <a:graphicFrameLocks noGrp="1"/>
          </p:cNvGraphicFramePr>
          <p:nvPr/>
        </p:nvGraphicFramePr>
        <p:xfrm>
          <a:off x="548640" y="1371600"/>
          <a:ext cx="5410047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 descr="Line chart of orders for each day of October 2026, with September 2026 as a grey line"/>
          <p:cNvGraphicFramePr>
            <a:graphicFrameLocks noGrp="1"/>
          </p:cNvGraphicFramePr>
          <p:nvPr/>
        </p:nvGraphicFramePr>
        <p:xfrm>
          <a:off x="6233007" y="1371600"/>
          <a:ext cx="5410047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across. Left: website sessions. Right: orders. The grey line is the month before.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Sessions: a break with an X is a day with no data (Oct 3, Oct 4, Oct 5).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Orders: a dot on the zero line is a day with no orders, a break with an X is a day with no data (Oct 14, Oct 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Order value, buyers and best days in October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94413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1829"/>
                <a:gridCol w="1607886"/>
                <a:gridCol w="1607886"/>
                <a:gridCol w="1447097"/>
                <a:gridCol w="1045126"/>
                <a:gridCol w="2974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Average order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$69.81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$72.39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-$2.58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Buyers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+7.1%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Calibri"/>
              </a:rPr>
              <a:t>Best days by net sales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74720"/>
          <a:ext cx="54863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56031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Net sales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$2,187.62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$2,016.71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$1,879.87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Change % is the change over September's figure, n/a when that was zero. Buyers per active day is the average of each day's distinct buyers, over days with orders. Average order value is gross sales divided by orders.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sessions total is 8.6% below September, but October is missing 3 days of website data: per reported day it is down 2.1%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9441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5214"/>
                <a:gridCol w="1436686"/>
                <a:gridCol w="1436686"/>
                <a:gridCol w="1197239"/>
                <a:gridCol w="957791"/>
                <a:gridCol w="3990796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Sessions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21,812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23,876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-2,064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-8.6%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3 days missing; per reported day down 2.1%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Users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607.1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642.2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-35.1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3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Page views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57,336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62,883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-5,547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-8.8%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3 days missing; per reported day down 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Key events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942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1,045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-103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3 days missing; per reported day down 3.4%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Order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+0.2 pts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+8.4%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3 days missing; 26 days in both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49039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>
                <a:solidFill>
                  <a:srgbClr val="1F3A5F"/>
                </a:solidFill>
                <a:latin typeface="Calibri"/>
              </a:rPr>
              <a:t>Sessions against orders by week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114800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1463040"/>
                <a:gridCol w="128016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Days counted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Sessions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Order rate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 1 to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4 of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2,770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 8 to 14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 of 7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4,798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 15 to 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 of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5,004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 22 to 28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7 of 7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5,754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 29 to 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 of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2,203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the website's Google Analytics 4 daily figures. Website days follow the property's own time zone, store days follow UTC.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Users per active day is the average of each day's distinct users. Order rate is orders divided by sessions over the days both sources reported, not a Google Analytics conversion rate.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Per reported day divides a total by the days with traffic plus the days with no traffic.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ad spend total is 2.1% above September, but October is missing 2 days of ad data: per reported day it is up 5.6%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5394958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262"/>
                <a:gridCol w="1328609"/>
                <a:gridCol w="1328609"/>
                <a:gridCol w="845478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October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September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Ad spend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6,215.05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6,088.26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+2.1%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431,757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440,492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7,578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8,372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-9.5%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Click through rate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1.76%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1.90%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-7.7%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Cost per click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0.82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0.73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+12.8%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Purchases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295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-23.2%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Purchase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16,236.38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20,719.49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-21.6%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Return on ad spend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2.89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3.40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-15.1%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 descr="Line chart of ad spend for each day of October 2026, with September 2026 as a grey line"/>
          <p:cNvGraphicFramePr>
            <a:graphicFrameLocks noGrp="1"/>
          </p:cNvGraphicFramePr>
          <p:nvPr/>
        </p:nvGraphicFramePr>
        <p:xfrm>
          <a:off x="6217920" y="1325880"/>
          <a:ext cx="5425135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 descr="Line chart of ad clicks for each day of October 2026, with September 2026 as a grey line"/>
          <p:cNvGraphicFramePr>
            <a:graphicFrameLocks noGrp="1"/>
          </p:cNvGraphicFramePr>
          <p:nvPr/>
        </p:nvGraphicFramePr>
        <p:xfrm>
          <a:off x="6217920" y="3611880"/>
          <a:ext cx="5425135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Meta Marketing API, in the ad account's currency (EUR) and time zone; store days follow UTC. Purchases are Meta's own count in a 7 day click window, not the store's orders.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across. Top chart: ad spend. Bottom chart: clicks. The grey line is the month before. A dot on the zero line is a day with no ad delivery, on either line; a break with an X is a day with no data (Oct 20, Oct 21).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Provisional days (a click can lead to a purchase after the day is over): Oct 26, Oct 27, Oct 28, Oct 29, Oct 30, Oct 31.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Per reported day divides a total by the days with ad delivery plus the days with none.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search clicks total is 19.5% above September, but October is missing 2 days of search data: per reported day it is up 23.6%</a:t>
            </a:r>
          </a:p>
        </p:txBody>
      </p:sp>
      <p:graphicFrame>
        <p:nvGraphicFramePr>
          <p:cNvPr id="3" name="Chart 2" descr="Line chart of search clicks for each day of October 2026, with September 2026 as a grey line"/>
          <p:cNvGraphicFramePr>
            <a:graphicFrameLocks noGrp="1"/>
          </p:cNvGraphicFramePr>
          <p:nvPr/>
        </p:nvGraphicFramePr>
        <p:xfrm>
          <a:off x="548640" y="1280160"/>
          <a:ext cx="5410047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 descr="Line chart of search impressions for each day of October 2026, with September 2026 as a grey line"/>
          <p:cNvGraphicFramePr>
            <a:graphicFrameLocks noGrp="1"/>
          </p:cNvGraphicFramePr>
          <p:nvPr/>
        </p:nvGraphicFramePr>
        <p:xfrm>
          <a:off x="6233007" y="1280160"/>
          <a:ext cx="5410047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Search figures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886200"/>
          <a:ext cx="365759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068"/>
                <a:gridCol w="661480"/>
                <a:gridCol w="661480"/>
                <a:gridCol w="62257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Oct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Sep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Search clicks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4,103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3,433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+19.5%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Search impressions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96,696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83,292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+16.1%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Search click through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4.24%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4.12%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+2.9%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Average position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43400" y="356616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Top queries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43400" y="3886200"/>
          <a:ext cx="352043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257"/>
                <a:gridCol w="508979"/>
                <a:gridCol w="678639"/>
                <a:gridCol w="466564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Impr.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Pos.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headlamp rechargeable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292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7,161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example outfitters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276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6,888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gore tex jacket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6,488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7.2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rain pants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6,136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hiking backpack 40l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234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5,990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001000" y="356616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Top pages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001000" y="3886200"/>
          <a:ext cx="352043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257"/>
                <a:gridCol w="508979"/>
                <a:gridCol w="678639"/>
                <a:gridCol w="466564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Impr.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Pos.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/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632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15,379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/sale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483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11,305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9.2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/socks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435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10,585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/blog/choose-hiking-boots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369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8,994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7.6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/stoves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8,936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Google Search Console. Search days are Pacific time, store days follow UTC. A lower average position is nearer the top of the results.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across. Left: search clicks. Right: search impressions. The grey line is the month before. A dot on the zero line is a day with no search traffic, on either line; a break with an X is a day with no data (Oct 9, Oct 10).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Top queries and pages add up each day's top rows over 29 days, so a key outside a day's top rows is not counted: they are lower bounds, not totals.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Provisional days (Search Console is still collecting them): Oct 30, Oct 31.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refunds total is 27.1% above September, but October is missing 2 days: per reported day it is up 31.5%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Net sales total was $40,249.02 in October, 1.8% below September ($40,966.11), but October is missing 2 days: per reported day, net sales are up 1.6% ($1,387.90 against $1,365.54).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Orders total was 607 in October, 3.1% above September (589), but October is missing 2 days: per reported day, orders are up 6.6% (20.93 against 19.63).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The biggest move was Refunds, 27.1% above September in total, but October is missing 2 days: per reported day it is up 31.5%.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The best day was Oct 31 with net sales of $2,187.62.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2 days have no data (Oct 14, Oct 15), so the totals are understated.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Sessions total was 21,812 in October, 8.6% below September (23,876), but October is missing 3 days of website data: per reported day, sessions are down 2.1% (779.00 against 795.87).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Order rate was 2.7% in October, up 8.4% from September (2.5%), and October is missing 3 days of website data.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3 days have no website data (Oct 3, Oct 4, Oct 5), so the website totals are understated.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Ad spend total was EUR 6,215.05 in October, 2.1% above September (EUR 6,088.26), but October is missing 2 days of ad data: per reported day, ad spend is up 5.6% (EUR 214.31 against EUR 202.94).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Return on ad spend was 2.89 in October, down 15.1% from September (3.40), and October is missing 2 days of ad data.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2 days have no ad data (Oct 20, Oct 21), so the ad totals are understated.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Search clicks total was 4,103 in October, 19.5% above September (3,433), but October is missing 2 days of search data: per reported day, search clicks are up 23.6% (141.48 against 114.43).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Average position was 8.6 in October, better by 8.9% (nearer the top) from September (9.4), and October is missing 2 days of search data.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2 days have no search data (Oct 9, Oct 10), so the search totals are understated.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Narrative written from the computed figures on the previous slides.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Data health: October is missing days of store, website, ads and search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9441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4298"/>
                <a:gridCol w="1398455"/>
                <a:gridCol w="2051068"/>
                <a:gridCol w="1584916"/>
                <a:gridCol w="1864607"/>
                <a:gridCol w="2051068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Source, October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Days with data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Days with nothing to report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Days with no data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Days that may still 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Stored daily figures used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Website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Ads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611880"/>
            <a:ext cx="110944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Days with no data in October, store: Oct 14, Oct 15.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Days with no data in October, website: Oct 3, Oct 4, Oct 5.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Days with no data in October, ads: Oct 20, Oct 21.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Days with no data in October, search: Oct 9, Oct 10.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May still change, ads: Oct 26, Oct 27, Oct 28, Oct 29, Oct 30, Oct 31.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May still change, search: Oct 30, Oct 31.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A month with days missing is understated, so its changes are marked partial.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For each source, days with data, days with nothing to report and days with no data add up to the days in the month.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day with nothing to report is one where a data pull ran and found none. A day with no data is one no data pull covered. A day that may still change is one close to the report date: purchases and search figures are restated for a few days.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api-analytics-hub</Application>
  <PresentationFormat>Widescreen</PresentationFormat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Monthly performance report, October 2026</dc:title>
  <dc:subject/>
  <dc:creator>api-analytics-hub</dc:creator>
  <cp:keywords/>
  <dc:description>Written by a fixed template from the computed figures (no model key is set). No model was used.</dc:description>
  <cp:lastModifiedBy>api-analytics-hub</cp:lastModifiedBy>
  <cp:revision>1</cp:revision>
  <dcterms:created xsi:type="dcterms:W3CDTF">2026-10-26T08:18:45Z</dcterms:created>
  <dcterms:modified xsi:type="dcterms:W3CDTF">2026-10-26T08:18:45Z</dcterms:modified>
  <cp:category/>
</cp:coreProperties>
</file>